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2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2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image" Target="../media/image-17-5.png"/><Relationship Id="rId6" Type="http://schemas.openxmlformats.org/officeDocument/2006/relationships/image" Target="../media/image-17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4114800" cy="4114800"/>
          </a:xfrm>
          <a:prstGeom prst="ellipse">
            <a:avLst/>
          </a:prstGeom>
          <a:solidFill>
            <a:srgbClr val="1328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3317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2B5FE0"/>
          </a:solidFill>
          <a:ln/>
        </p:spPr>
      </p:sp>
      <p:pic>
        <p:nvPicPr>
          <p:cNvPr id="5" name="Image 0" descr="/home/claude/academia_pptx/icons/briefc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54203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3246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1605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Business Management Platform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709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private tutors get students, manage their teaching business, and control their income — all in one place.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tutors run their business the hard 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phon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19072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16736" y="1572768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professional online presence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 rely purely on word-of-mouth and social media to find new students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comments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679192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16736" y="2532888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managed by phone and chat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schedules, and students are tracked manually across scattered conversations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52044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2" descr="/home/claude/academia_pptx/icons/calendar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639312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16736" y="3493008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in-person + online system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place to organize both session formats together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448056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4" name="Image 3" descr="/home/claude/academia_pptx/icons/moneybill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599432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16736" y="4453128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tracked informally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and commissions have no clear, structured financial record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500" i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quality is high — business management is chaos.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and parents aren't served either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search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901952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16736" y="1755648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compare tutors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rely on personal recommendations, with no structured way to compare by subject, price, rating, or teaching mode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990088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exchang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3108960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16736" y="2962656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booking &amp; payment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Arranging and paying for a session is an ad-hoc, manual process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4197096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2" descr="/home/claude/academia_pptx/icons/ey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31596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16736" y="4169664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have almost no visibility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to no insight into a child's sessions or academic activity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5404104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4" name="Image 3" descr="/home/claude/academia_pptx/icons/comments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5522976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16736" y="5376672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communication only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depend entirely on direct, unstructured contact with the tutor for updates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system. Built for the tutor. Open to the student.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6" name="Image 0" descr="/home/claude/academia_pptx/icons/chalkbo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848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Teachers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page, full control over in-person &amp; online sessions, and complete income/wallet management.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196596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1" descr="/home/claude/academia_pptx/icons/search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08483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Students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"Find a Teacher" marketplace to search, compare, and book with confidence.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0" y="196596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6" name="Image 2" descr="/home/claude/academia_pptx/icons/ey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08483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Parents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window into their linked child's academic activity.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B1E39"/>
          </a:solidFill>
          <a:ln/>
        </p:spPr>
      </p:sp>
      <p:pic>
        <p:nvPicPr>
          <p:cNvPr id="20" name="Image 3" descr="/home/claude/academia_pptx/icons/quot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24528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4041648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is not just a place to find a tutor — it's a complete business-management tool for the private tutor, from getting students to managing sessions and income.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students use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095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7091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50" dirty="0"/>
          </a:p>
        </p:txBody>
      </p:sp>
      <p:pic>
        <p:nvPicPr>
          <p:cNvPr id="7" name="Image 0" descr="/home/claude/academia_pptx/icons/arrow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4708" y="3008376"/>
            <a:ext cx="402336" cy="402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0639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40639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08635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150" dirty="0"/>
          </a:p>
        </p:txBody>
      </p:sp>
      <p:pic>
        <p:nvPicPr>
          <p:cNvPr id="11" name="Image 1" descr="/home/claude/academia_pptx/icons/arrow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148" y="3008376"/>
            <a:ext cx="402336" cy="4023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02183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02183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70179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150" dirty="0"/>
          </a:p>
        </p:txBody>
      </p:sp>
      <p:pic>
        <p:nvPicPr>
          <p:cNvPr id="15" name="Image 2" descr="/home/claude/academia_pptx/icons/arrow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588" y="3008376"/>
            <a:ext cx="402336" cy="40233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63727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563727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531723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150" dirty="0"/>
          </a:p>
        </p:txBody>
      </p:sp>
      <p:pic>
        <p:nvPicPr>
          <p:cNvPr id="19" name="Image 3" descr="/home/claude/academia_pptx/icons/arrow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028" y="3008376"/>
            <a:ext cx="402336" cy="40233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25271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25271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693267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150" dirty="0"/>
          </a:p>
        </p:txBody>
      </p:sp>
      <p:pic>
        <p:nvPicPr>
          <p:cNvPr id="23" name="Image 4" descr="/home/claude/academia_pptx/icons/arrow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468" y="3008376"/>
            <a:ext cx="402336" cy="402336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86815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886815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19"/>
          <p:cNvSpPr txBox="1"/>
          <p:nvPr/>
        </p:nvSpPr>
        <p:spPr>
          <a:xfrm>
            <a:off x="854811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</a:t>
            </a:r>
            <a:endParaRPr lang="en-US" sz="1150" dirty="0"/>
          </a:p>
        </p:txBody>
      </p:sp>
      <p:pic>
        <p:nvPicPr>
          <p:cNvPr id="27" name="Image 5" descr="/home/claude/academia_pptx/icons/arrow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1908" y="3008376"/>
            <a:ext cx="402336" cy="40233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10483596" y="2651760"/>
            <a:ext cx="914400" cy="9144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1048359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2"/>
          <p:cNvSpPr txBox="1"/>
          <p:nvPr/>
        </p:nvSpPr>
        <p:spPr>
          <a:xfrm>
            <a:off x="1016355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1737360" y="4572000"/>
            <a:ext cx="8686800" cy="777240"/>
          </a:xfrm>
          <a:prstGeom prst="roundRect">
            <a:avLst>
              <a:gd name="adj" fmla="val 11765"/>
            </a:avLst>
          </a:prstGeom>
          <a:solidFill>
            <a:srgbClr val="F4F6F9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2011680" y="45720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path from discovery to a rated, completed session — not a random DM to a stranger.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heart of Academia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idc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901952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78308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profile &amp; public page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63640" y="178308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tags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90195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76872" y="178308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Subjects, services &amp; pricing display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83464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2" descr="/home/claude/academia_pptx/icons/users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95351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61872" y="283464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group management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263640" y="283464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4" name="Image 3" descr="/home/claude/academia_pptx/icons/laptop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95351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76872" y="283464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 AND online sessions — one system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388620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7" name="Image 4" descr="/home/claude/academia_pptx/icons/calendar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00507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61872" y="388620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availability management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263640" y="388620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0" name="Image 5" descr="/home/claude/academia_pptx/icons/checkcircle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4005072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76872" y="388620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management (accept / reject)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548640" y="493776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3" name="Image 6" descr="/home/claude/academia_pptx/icons/reload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5056632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261872" y="493776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request handling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6263640" y="493776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6" name="Image 7" descr="/home/claude/academia_pptx/icons/history_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5056632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976872" y="493776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session tracking</a:t>
            </a:r>
            <a:endParaRPr lang="en-US" sz="1400" dirty="0"/>
          </a:p>
        </p:txBody>
      </p:sp>
      <p:sp>
        <p:nvSpPr>
          <p:cNvPr id="28" name="Text 18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9" name="Text 19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professional digital presence, not just word-of-mouth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search and filter by: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81528" y="21488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81528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14416" y="21488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14416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/ Region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47304" y="21488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47304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/ In-person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8529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081528" y="28529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81528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Days &amp; Times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14416" y="28529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14416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47304" y="28529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47304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557016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55701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B1E39"/>
          </a:solidFill>
          <a:ln/>
        </p:spPr>
      </p:sp>
      <p:pic>
        <p:nvPicPr>
          <p:cNvPr id="24" name="Image 0" descr="/home/claude/academia_pptx/icons/sta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10896" cy="310896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371600" y="434340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tutor a professional digital presence instead of relying only on personal referrals.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cycle, not a random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96796" y="1783080"/>
            <a:ext cx="1051560" cy="10515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796796" y="176479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76756" y="29077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50" dirty="0"/>
          </a:p>
        </p:txBody>
      </p:sp>
      <p:pic>
        <p:nvPicPr>
          <p:cNvPr id="7" name="Image 0" descr="/home/claude/academia_pptx/icons/arrow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8708" y="2208276"/>
            <a:ext cx="402336" cy="402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11396" y="1783080"/>
            <a:ext cx="1051560" cy="10515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311396" y="176479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991356" y="29077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/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50" dirty="0"/>
          </a:p>
        </p:txBody>
      </p:sp>
      <p:pic>
        <p:nvPicPr>
          <p:cNvPr id="11" name="Image 1" descr="/home/claude/academia_pptx/icons/arrow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308" y="2208276"/>
            <a:ext cx="402336" cy="4023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825996" y="1783080"/>
            <a:ext cx="1051560" cy="10515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825996" y="176479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505956" y="29077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50" dirty="0"/>
          </a:p>
        </p:txBody>
      </p:sp>
      <p:pic>
        <p:nvPicPr>
          <p:cNvPr id="15" name="Image 2" descr="/home/claude/academia_pptx/icons/arrow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908" y="2208276"/>
            <a:ext cx="402336" cy="40233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340596" y="1783080"/>
            <a:ext cx="1051560" cy="10515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340596" y="176479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9020556" y="29077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0" name="Image 3" descr="/home/claude/academia_pptx/icons/checkcircl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2702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81328" y="4160520"/>
            <a:ext cx="9857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 with a stated reason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822960" y="4727448"/>
            <a:ext cx="457200" cy="457200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3" name="Image 4" descr="/home/claude/academia_pptx/icons/reload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83717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81328" y="4727448"/>
            <a:ext cx="9857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reschedule-request workflow — student proposes, teacher approves or declines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822960" y="5294376"/>
            <a:ext cx="457200" cy="457200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6" name="Image 5" descr="/home/claude/academia_pptx/icons/history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404104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481328" y="5294376"/>
            <a:ext cx="9857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booking history preserved — nothing is ever deleted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822960" y="5861304"/>
            <a:ext cx="457200" cy="457200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9" name="Image 6" descr="/home/claude/academia_pptx/icons/star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5971032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481328" y="5861304"/>
            <a:ext cx="9857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unlocks only after the session is completed</a:t>
            </a:r>
            <a:endParaRPr lang="en-US" sz="1350" dirty="0"/>
          </a:p>
        </p:txBody>
      </p:sp>
      <p:sp>
        <p:nvSpPr>
          <p:cNvPr id="31" name="Text 22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financial layer for the tutor's business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walle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856232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73736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wallet with balance top-up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63640" y="173736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receip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5623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76872" y="173736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bank-transfer top-up with receipt verification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78892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2" descr="/home/claude/academia_pptx/icons/exchang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9077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61872" y="278892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commission calculation on confirmation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263640" y="278892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4" name="Image 3" descr="/home/claude/academia_pptx/icons/moneybill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90779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76872" y="278892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earnings credited automatically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384048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7" name="Image 4" descr="/home/claude/academia_pptx/icons/history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95935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61872" y="384048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transaction history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263640" y="384048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0" name="Image 5" descr="/home/claude/academia_pptx/icons/filedownload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3959352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76872" y="384048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withdrawal requests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548640" y="489204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3" name="Image 6" descr="/home/claude/academia_pptx/icons/chartline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5010912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261872" y="489204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revenue ledger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6" name="Text 17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control &amp; academic tracking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621792" cy="621792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shiel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40280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075688"/>
            <a:ext cx="9692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configurable permission system
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controls role access to any page without touching code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3703320"/>
            <a:ext cx="621792" cy="621792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chartlin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840480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3675888"/>
            <a:ext cx="9692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parent academic tracking
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exam results, and progress — designed into the platform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22960" y="5303520"/>
            <a:ext cx="621792" cy="621792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2" descr="/home/claude/academia_pptx/icons/loc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440680"/>
            <a:ext cx="347472" cy="34747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45920" y="5276088"/>
            <a:ext cx="9692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
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access is strictly scoped to their linked children only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Palestine, why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85216" cy="585216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mappoin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35024" y="1664208"/>
            <a:ext cx="100035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geographic focus
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Gaza Strip &amp; West Bank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585216" cy="585216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boo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43200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35024" y="2578608"/>
            <a:ext cx="100035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tutoring coverage
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In-person, online, individual, and group private tutoring for school-stage students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379476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40233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this market runs on: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68680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6868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063240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06324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257800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25780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452360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45236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Bank Transfers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9646920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64692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Schedules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868680" y="49377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unifies all of that into one platform.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teacher-first, by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0B1E3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pic>
        <p:nvPicPr>
          <p:cNvPr id="7" name="Image 0" descr="/home/claude/academia_pptx/icons/chalkbo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060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246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794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9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"Get Students + Manage Teaching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9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Manage Business + Manage Money"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663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platform's core features are built to serve teachers first.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0" y="1691640"/>
            <a:ext cx="5669280" cy="1691640"/>
          </a:xfrm>
          <a:prstGeom prst="roundRect">
            <a:avLst>
              <a:gd name="adj" fmla="val 6486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0" y="1947672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2B5FE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194767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pic>
        <p:nvPicPr>
          <p:cNvPr id="14" name="Image 1" descr="/home/claude/academia_pptx/icons/search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44144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720840" y="2404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217920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Discovers, compares, and books tutors.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43600" y="3657600"/>
            <a:ext cx="5669280" cy="1691640"/>
          </a:xfrm>
          <a:prstGeom prst="roundRect">
            <a:avLst>
              <a:gd name="adj" fmla="val 6486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3913632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17920" y="3913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1000" dirty="0"/>
          </a:p>
        </p:txBody>
      </p:sp>
      <p:pic>
        <p:nvPicPr>
          <p:cNvPr id="20" name="Image 2" descr="/home/claude/academia_pptx/icons/ey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40740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720840" y="4370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4892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linked children's academic activity.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+ SaaS hybrid revenue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5276" y="178308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pic>
        <p:nvPicPr>
          <p:cNvPr id="5" name="Image 0" descr="/home/claude/academia_pptx/icons/idc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2167128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42516" y="17830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pays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booking</a:t>
            </a:r>
            <a:endParaRPr lang="en-US" sz="1300" dirty="0"/>
          </a:p>
        </p:txBody>
      </p:sp>
      <p:pic>
        <p:nvPicPr>
          <p:cNvPr id="7" name="Image 1" descr="/home/claude/academia_pptx/icons/arrow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664" y="2276856"/>
            <a:ext cx="329184" cy="32918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85716" y="178308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pic>
        <p:nvPicPr>
          <p:cNvPr id="9" name="Image 2" descr="/home/claude/academia_pptx/icons/exchang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316" y="2167128"/>
            <a:ext cx="402336" cy="40233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362956" y="17830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commission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deducted</a:t>
            </a:r>
            <a:endParaRPr lang="en-US" sz="1300" dirty="0"/>
          </a:p>
        </p:txBody>
      </p:sp>
      <p:pic>
        <p:nvPicPr>
          <p:cNvPr id="11" name="Image 3" descr="/home/claude/academia_pptx/icons/arrow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104" y="2276856"/>
            <a:ext cx="329184" cy="32918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106156" y="178308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pic>
        <p:nvPicPr>
          <p:cNvPr id="13" name="Image 4" descr="/home/claude/academia_pptx/icons/moneybill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756" y="2167128"/>
            <a:ext cx="402336" cy="402336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883396" y="17830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receives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earnings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1065276" y="3108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rate is configurable by admin.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REVENUE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548640" y="3977640"/>
            <a:ext cx="2790749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548640" y="3977640"/>
            <a:ext cx="279074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teacher accounts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3522269" y="3977640"/>
            <a:ext cx="2147011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3522269" y="3977640"/>
            <a:ext cx="21470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search ranking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852160" y="3977640"/>
            <a:ext cx="271028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5852160" y="3977640"/>
            <a:ext cx="27102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advanced reports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8745322" y="3977640"/>
            <a:ext cx="166420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8745322" y="397764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tools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48640" y="4544568"/>
            <a:ext cx="271028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548640" y="4544568"/>
            <a:ext cx="27102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group/session tools</a:t>
            </a:r>
            <a:endParaRPr lang="en-US" sz="115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additional digital services around the tutor's business, without changing the platform's core.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competitors solve only one piece of the puzzle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17320"/>
                <a:gridCol w="2743200"/>
                <a:gridCol w="2606040"/>
                <a:gridCol w="29535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&amp; Focus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vs Academia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9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Egypt, UAE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students with tutors (online/in-person), tracks parents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brand, guardian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 on students/parents — not on giving the tutor business-management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Hissaa (حصة)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Saudi Arabia &amp; Gulf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for booking private sessions, simplifies individual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interface, wide reach in the Gulf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 to Gulf market workflows and payment methods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MyPrivateTutor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 East &amp; MENA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 of private tutors and centers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large database, high traffic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a listing/directory — no scheduling or wallet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Darisni (درسني)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Kuwait &amp; Gulf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private-lesson booking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focused on quick video-session 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Online-only — doesn't serve in-person or group sessions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TutorBird / Teachworks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(US/Europe)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business-management software for tutors and centers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mature management system (scheduling, invoicing, reports)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marketplace at all — no way for the tutor to find new students; not localized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ACADEMIA'S EDGE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 existing player looks like Academia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621792" cy="621792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6" name="Image 0" descr="/home/claude/academia_pptx/icons/handshak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12264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383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2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+ SaaS in One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74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are either a booking marketplace ONLY, or a management SaaS ONLY. Academia is the only one combining both.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1965960"/>
            <a:ext cx="621792" cy="621792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12" name="Image 1" descr="/home/claude/academia_pptx/icons/mappoin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112264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78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2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2743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Local Reality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3474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in-person tutoring, not just online video, with payment flows matching how the local market actually pays.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169164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0" y="1965960"/>
            <a:ext cx="621792" cy="621792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18" name="Image 2" descr="/home/claude/academia_pptx/icons/rocket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11226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972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2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2743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Teacher-First Engine</a:t>
            </a:r>
            <a:endParaRPr lang="en-US" sz="165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3474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tutor's word-of-mouth chaos into an organized business through one professional, shareable profile page.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51663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B1E39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local Palestinian market, </a:t>
            </a:r>
            <a:pPr indent="0" marL="0">
              <a:buNone/>
            </a:pPr>
            <a:r>
              <a:rPr lang="en-US" sz="1550" b="1" i="1" dirty="0">
                <a:solidFill>
                  <a:srgbClr val="5F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</a:t>
            </a:r>
            <a:pPr indent="0" marL="0">
              <a:buNone/>
            </a:pPr>
            <a:r>
              <a:rPr lang="en-US" sz="15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currently has no direct local competitor combining all of this.</a:t>
            </a:r>
            <a:endParaRPr lang="en-US" sz="155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&amp;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928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Start + Router (full-stack)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for data fetching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 + Radix UI (shadcn/ui)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i18next — true Arabic RTL, 40+ components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(unit) + Playwright (E2E)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8928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4028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+ ASP.NET Core Web API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10 + SQL Server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layered solution (Core / Data / Infrastructure / API)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Identity — secure cross-origin cookie auth (not token-based)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 API via Swagger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82396" y="443484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B1E39"/>
          </a:solidFill>
          <a:ln/>
        </p:spPr>
      </p:sp>
      <p:pic>
        <p:nvPicPr>
          <p:cNvPr id="11" name="Image 0" descr="/home/claude/academia_pptx/icons/laptop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" y="4695444"/>
            <a:ext cx="347472" cy="34747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504188" y="4434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+ TanStack)</a:t>
            </a:r>
            <a:endParaRPr lang="en-US" sz="1150" dirty="0"/>
          </a:p>
        </p:txBody>
      </p:sp>
      <p:pic>
        <p:nvPicPr>
          <p:cNvPr id="13" name="Image 1" descr="/home/claude/academia_pptx/icons/arrow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792" y="4741164"/>
            <a:ext cx="292608" cy="256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 flipH="1">
            <a:off x="4009644" y="4869180"/>
            <a:ext cx="374904" cy="0"/>
          </a:xfrm>
          <a:prstGeom prst="line">
            <a:avLst/>
          </a:prstGeom>
          <a:noFill/>
          <a:ln w="12700">
            <a:solidFill>
              <a:srgbClr val="E2E6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677156" y="443484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B1E39"/>
          </a:solidFill>
          <a:ln/>
        </p:spPr>
      </p:sp>
      <p:pic>
        <p:nvPicPr>
          <p:cNvPr id="16" name="Image 2" descr="/home/claude/academia_pptx/icons/server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324" y="469544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98948" y="4434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(ASP.NET Core)</a:t>
            </a:r>
            <a:endParaRPr lang="en-US" sz="1150" dirty="0"/>
          </a:p>
        </p:txBody>
      </p:sp>
      <p:pic>
        <p:nvPicPr>
          <p:cNvPr id="18" name="Image 3" descr="/home/claude/academia_pptx/icons/arrow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4741164"/>
            <a:ext cx="292608" cy="2560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 flipH="1">
            <a:off x="7804404" y="4869180"/>
            <a:ext cx="374904" cy="0"/>
          </a:xfrm>
          <a:prstGeom prst="line">
            <a:avLst/>
          </a:prstGeom>
          <a:noFill/>
          <a:ln w="12700">
            <a:solidFill>
              <a:srgbClr val="E2E6ED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471916" y="443484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B1E39"/>
          </a:solidFill>
          <a:ln/>
        </p:spPr>
      </p:sp>
      <p:pic>
        <p:nvPicPr>
          <p:cNvPr id="21" name="Image 4" descr="/home/claude/academia_pptx/icons/database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3084" y="4695444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093708" y="4434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115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PROGRESS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we've actually built and shipped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1E3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1907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408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Endpoints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1E3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71907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3408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Live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6459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1E3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66760" y="171907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3408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Engine Shipped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14" name="Image 0" descr="/home/claude/academia_pptx/icons/checkcircl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063240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52144" y="2971800"/>
            <a:ext cx="10277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authentication system live for all 4 roles (Teacher, Student, Parent, Admin)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3538728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17" name="Image 1" descr="/home/claude/academia_pptx/icons/checkcircl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30168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52144" y="3538728"/>
            <a:ext cx="10277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admin console shipped: users, dynamic content, fully configurable role permissions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20" name="Image 2" descr="/home/claude/academia_pptx/icons/checkcircl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97096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52144" y="4105656"/>
            <a:ext cx="10277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wallet &amp; payments engine shipped end-to-end: balance, transactions, top-up with receipt verification, withdrawal approval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4672584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23" name="Image 3" descr="/home/claude/academia_pptx/icons/checkcircl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764024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52144" y="4672584"/>
            <a:ext cx="10277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teacher-discovery marketplace live: search, filtering, public profiles — no login required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5239512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26" name="Image 4" descr="/home/claude/academia_pptx/icons/bolt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33095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52144" y="5239512"/>
            <a:ext cx="10277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lesson-scheduling engines fully built on the backend — current focus is the account-linking layer to real teacher/student screens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548640" y="5806440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29" name="Image 5" descr="/home/claude/academia_pptx/icons/checkcircle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897880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152144" y="5806440"/>
            <a:ext cx="10277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in place (unit + end-to-end) as part of the engineering process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0120" y="1920240"/>
            <a:ext cx="0" cy="3749040"/>
          </a:xfrm>
          <a:prstGeom prst="line">
            <a:avLst/>
          </a:prstGeom>
          <a:noFill/>
          <a:ln w="25400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8249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linking teacher/student registration to their database records (in progress)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487168"/>
            <a:ext cx="365760" cy="3657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43230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booking and lesson-scheduling systems to real screens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236976"/>
            <a:ext cx="365760" cy="3657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1821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parent-child linking so the parent portal returns real data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986784"/>
            <a:ext cx="365760" cy="3657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9319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payment gateway to replace manual bank transfer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4736592"/>
            <a:ext cx="365760" cy="3657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6817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teacher plans (professional accounts, analytics, marketing tools)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5486400"/>
            <a:ext cx="365760" cy="3657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43153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app, later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B1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Deep Dive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backup only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54864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Wallet integrity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debit/credit pair (student ↔ teacher) runs as a single atomic transaction — no partial application on failure.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89504"/>
            <a:ext cx="54864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8620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data model implemented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Booking, BookingRescheduleRequest, GroupScheduleDay, ParentStudentLink, WalletTransaction, WalletTopUpRequest, WithdrawalRequest, PlatformCommissionSetting, PlatformRevenueLedger, Page/UserPermission.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85616"/>
            <a:ext cx="54864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75818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Planned access-control model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API-level authorization + database relation level — a parent will only ever query children explicitly linked to their account.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681728"/>
            <a:ext cx="54864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65429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 design rule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will never directly modify a teacher's schedule — any teacher-side change auto-propagates to the student's confirmed schedule with a notification.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577840"/>
            <a:ext cx="54864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55504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Cross-origin cookie auth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Restricted to a whitelist of trusted frontend origins.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389120"/>
            <a:ext cx="4572000" cy="4572000"/>
          </a:xfrm>
          <a:prstGeom prst="ellipse">
            <a:avLst/>
          </a:prstGeom>
          <a:solidFill>
            <a:srgbClr val="13284A"/>
          </a:solidFill>
          <a:ln/>
        </p:spPr>
      </p:sp>
      <p:pic>
        <p:nvPicPr>
          <p:cNvPr id="4" name="Image 0" descr="/home/claude/academia_pptx/icons/quo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46888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 — from finding the student, to managing the session, to managing the income.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3840480"/>
            <a:ext cx="20116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069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— Teacher Business Management Platform</dc:title>
  <dc:subject>PptxGenJS Presentation</dc:subject>
  <dc:creator>Academia</dc:creator>
  <cp:lastModifiedBy>Academia</cp:lastModifiedBy>
  <cp:revision>1</cp:revision>
  <dcterms:created xsi:type="dcterms:W3CDTF">2026-09-27T06:53:56Z</dcterms:created>
  <dcterms:modified xsi:type="dcterms:W3CDTF">2026-09-27T06:53:56Z</dcterms:modified>
</cp:coreProperties>
</file>