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E3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54632"/>
            <a:ext cx="8229600" cy="9525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8030542" y="225549"/>
            <a:ext cx="91028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238" kern="0" dirty="0">
                <a:solidFill>
                  <a:srgbClr val="AFB5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 / 20</a:t>
            </a:r>
            <a:endParaRPr lang="en-US" sz="108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E39">
              <a:alpha val="72157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49622" y="946249"/>
            <a:ext cx="61912" cy="6191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8" name="Text 5"/>
          <p:cNvSpPr/>
          <p:nvPr/>
        </p:nvSpPr>
        <p:spPr>
          <a:xfrm>
            <a:off x="703957" y="883890"/>
            <a:ext cx="224140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259" kern="0" dirty="0">
                <a:solidFill>
                  <a:srgbClr val="14B8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ACADEMIA / 2026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548580" y="1110481"/>
            <a:ext cx="3502194" cy="8143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215"/>
              </a:spcBef>
              <a:buNone/>
            </a:pPr>
            <a:r>
              <a:rPr lang="en-US" sz="5040" b="1" spc="-353" kern="0" dirty="0">
                <a:solidFill>
                  <a:srgbClr val="F5F7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Academia</a:t>
            </a:r>
            <a:endParaRPr lang="en-US" sz="5040" dirty="0"/>
          </a:p>
        </p:txBody>
      </p:sp>
      <p:sp>
        <p:nvSpPr>
          <p:cNvPr id="10" name="Text 7"/>
          <p:cNvSpPr/>
          <p:nvPr/>
        </p:nvSpPr>
        <p:spPr>
          <a:xfrm>
            <a:off x="723007" y="1931268"/>
            <a:ext cx="439005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215"/>
              </a:spcBef>
              <a:buNone/>
            </a:pPr>
            <a:r>
              <a:rPr lang="en-US" sz="1800" dirty="0">
                <a:solidFill>
                  <a:srgbClr val="F5F7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Teacher Business Management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23007" y="2171254"/>
            <a:ext cx="1244612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215"/>
              </a:spcBef>
              <a:buNone/>
            </a:pPr>
            <a:r>
              <a:rPr lang="en-US" sz="1800" dirty="0">
                <a:solidFill>
                  <a:srgbClr val="F5F7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Platform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48580" y="2650257"/>
            <a:ext cx="5322615" cy="402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91"/>
              </a:lnSpc>
              <a:buNone/>
            </a:pPr>
            <a:r>
              <a:rPr lang="en-US" sz="1220" dirty="0">
                <a:solidFill>
                  <a:srgbClr val="C6CCD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Helps private tutors get students, manage their teaching</a:t>
            </a:r>
            <a:endParaRPr lang="en-US" sz="1220" dirty="0"/>
          </a:p>
          <a:p>
            <a:pPr algn="l" indent="0" marL="0">
              <a:lnSpc>
                <a:spcPts val="1591"/>
              </a:lnSpc>
              <a:buNone/>
            </a:pPr>
            <a:r>
              <a:rPr lang="en-US" sz="1220" dirty="0">
                <a:solidFill>
                  <a:srgbClr val="C6CCD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business, and control their income — all in one place.</a:t>
            </a:r>
            <a:endParaRPr lang="en-US" sz="1220" dirty="0"/>
          </a:p>
        </p:txBody>
      </p:sp>
      <p:sp>
        <p:nvSpPr>
          <p:cNvPr id="13" name="Text 10"/>
          <p:cNvSpPr/>
          <p:nvPr/>
        </p:nvSpPr>
        <p:spPr>
          <a:xfrm>
            <a:off x="548580" y="4535909"/>
            <a:ext cx="486446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130" kern="0" dirty="0">
                <a:solidFill>
                  <a:srgbClr val="97A0A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BUSINESS PLATFORM / MARKETPLACE / WALLET</a:t>
            </a:r>
            <a:endParaRPr lang="en-US" sz="108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8097" y="1964085"/>
            <a:ext cx="4024312" cy="4810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54632"/>
            <a:ext cx="8229600" cy="9525"/>
          </a:xfrm>
          <a:prstGeom prst="rect">
            <a:avLst/>
          </a:prstGeom>
          <a:solidFill>
            <a:srgbClr val="2B5FE0"/>
          </a:solidFill>
          <a:ln/>
        </p:spPr>
      </p:sp>
      <p:sp>
        <p:nvSpPr>
          <p:cNvPr id="4" name="Text 2"/>
          <p:cNvSpPr/>
          <p:nvPr/>
        </p:nvSpPr>
        <p:spPr>
          <a:xfrm>
            <a:off x="8001893" y="225549"/>
            <a:ext cx="94752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238" kern="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 / 20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48580" y="369540"/>
            <a:ext cx="387376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238" kern="0" dirty="0">
                <a:solidFill>
                  <a:srgbClr val="2B5F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PROBLEM / TEACHER-FIRST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580" y="594420"/>
            <a:ext cx="7927099" cy="376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527"/>
              </a:spcBef>
              <a:buNone/>
            </a:pPr>
            <a:r>
              <a:rPr lang="en-US" sz="2340" b="1" spc="-94" kern="0" dirty="0">
                <a:solidFill>
                  <a:srgbClr val="1A1F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Private tutors run their business the hard way</a:t>
            </a:r>
            <a:endParaRPr lang="en-US" sz="2340" dirty="0"/>
          </a:p>
        </p:txBody>
      </p:sp>
      <p:sp>
        <p:nvSpPr>
          <p:cNvPr id="7" name="Shape 5"/>
          <p:cNvSpPr/>
          <p:nvPr/>
        </p:nvSpPr>
        <p:spPr>
          <a:xfrm>
            <a:off x="549436" y="1186197"/>
            <a:ext cx="71438" cy="71438"/>
          </a:xfrm>
          <a:prstGeom prst="rect">
            <a:avLst/>
          </a:prstGeom>
          <a:solidFill>
            <a:srgbClr val="2B5FE0"/>
          </a:solidFill>
          <a:ln/>
        </p:spPr>
      </p:sp>
      <p:sp>
        <p:nvSpPr>
          <p:cNvPr id="8" name="Text 6"/>
          <p:cNvSpPr/>
          <p:nvPr/>
        </p:nvSpPr>
        <p:spPr>
          <a:xfrm>
            <a:off x="713110" y="1134740"/>
            <a:ext cx="493701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professional online presence — tutors rely purely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713110" y="1324347"/>
            <a:ext cx="412547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 word-of-mouth and social media to find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713110" y="1513954"/>
            <a:ext cx="88697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students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549436" y="1868128"/>
            <a:ext cx="71438" cy="71438"/>
          </a:xfrm>
          <a:prstGeom prst="rect">
            <a:avLst/>
          </a:prstGeom>
          <a:solidFill>
            <a:srgbClr val="2B5FE0"/>
          </a:solidFill>
          <a:ln/>
        </p:spPr>
      </p:sp>
      <p:sp>
        <p:nvSpPr>
          <p:cNvPr id="12" name="Text 10"/>
          <p:cNvSpPr/>
          <p:nvPr/>
        </p:nvSpPr>
        <p:spPr>
          <a:xfrm>
            <a:off x="713110" y="1816671"/>
            <a:ext cx="451446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Sessions, schedules, and students are managed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713110" y="2006278"/>
            <a:ext cx="321788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manually by phone and chat apps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549436" y="2360451"/>
            <a:ext cx="71438" cy="71438"/>
          </a:xfrm>
          <a:prstGeom prst="rect">
            <a:avLst/>
          </a:prstGeom>
          <a:solidFill>
            <a:srgbClr val="2B5FE0"/>
          </a:solidFill>
          <a:ln/>
        </p:spPr>
      </p:sp>
      <p:sp>
        <p:nvSpPr>
          <p:cNvPr id="15" name="Text 13"/>
          <p:cNvSpPr/>
          <p:nvPr/>
        </p:nvSpPr>
        <p:spPr>
          <a:xfrm>
            <a:off x="713110" y="2308994"/>
            <a:ext cx="439673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unified way to organize both in-person and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713110" y="2498601"/>
            <a:ext cx="147533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online sessions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4664236" y="1186197"/>
            <a:ext cx="71438" cy="71438"/>
          </a:xfrm>
          <a:prstGeom prst="rect">
            <a:avLst/>
          </a:prstGeom>
          <a:solidFill>
            <a:srgbClr val="2B5FE0"/>
          </a:solidFill>
          <a:ln/>
        </p:spPr>
      </p:sp>
      <p:sp>
        <p:nvSpPr>
          <p:cNvPr id="18" name="Text 16"/>
          <p:cNvSpPr/>
          <p:nvPr/>
        </p:nvSpPr>
        <p:spPr>
          <a:xfrm>
            <a:off x="4827910" y="1134740"/>
            <a:ext cx="462474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Income, payments, and commissions are tracked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4827910" y="1324347"/>
            <a:ext cx="375255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informally, with no clear financial record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4662488" y="1637593"/>
            <a:ext cx="3933825" cy="990600"/>
          </a:xfrm>
          <a:prstGeom prst="rect">
            <a:avLst/>
          </a:prstGeom>
          <a:solidFill>
            <a:srgbClr val="F4F6F9"/>
          </a:solidFill>
          <a:ln w="4763">
            <a:solidFill>
              <a:srgbClr val="D9E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50978" y="1753716"/>
            <a:ext cx="85969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73" kern="0" dirty="0">
                <a:solidFill>
                  <a:srgbClr val="14B8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RESULT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4850978" y="2003524"/>
            <a:ext cx="34010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40" b="1" spc="-55" kern="0" dirty="0">
                <a:solidFill>
                  <a:srgbClr val="1A1F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Teaching quality is high.</a:t>
            </a:r>
            <a:endParaRPr lang="en-US" sz="1840" dirty="0"/>
          </a:p>
        </p:txBody>
      </p:sp>
      <p:sp>
        <p:nvSpPr>
          <p:cNvPr id="23" name="Text 21"/>
          <p:cNvSpPr/>
          <p:nvPr/>
        </p:nvSpPr>
        <p:spPr>
          <a:xfrm>
            <a:off x="4850978" y="2248272"/>
            <a:ext cx="445700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40" b="1" spc="-55" kern="0" dirty="0">
                <a:solidFill>
                  <a:srgbClr val="1A1F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Business management is chaos.</a:t>
            </a:r>
            <a:endParaRPr lang="en-US" sz="1840" dirty="0"/>
          </a:p>
        </p:txBody>
      </p:sp>
      <p:sp>
        <p:nvSpPr>
          <p:cNvPr id="24" name="Shape 22"/>
          <p:cNvSpPr/>
          <p:nvPr/>
        </p:nvSpPr>
        <p:spPr>
          <a:xfrm>
            <a:off x="547688" y="4722168"/>
            <a:ext cx="8048625" cy="9525"/>
          </a:xfrm>
          <a:prstGeom prst="rect">
            <a:avLst/>
          </a:prstGeom>
          <a:solidFill>
            <a:srgbClr val="D9E0EA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54632"/>
            <a:ext cx="8229600" cy="9525"/>
          </a:xfrm>
          <a:prstGeom prst="rect">
            <a:avLst/>
          </a:prstGeom>
          <a:solidFill>
            <a:srgbClr val="2B5FE0"/>
          </a:solidFill>
          <a:ln/>
        </p:spPr>
      </p:sp>
      <p:sp>
        <p:nvSpPr>
          <p:cNvPr id="4" name="Text 2"/>
          <p:cNvSpPr/>
          <p:nvPr/>
        </p:nvSpPr>
        <p:spPr>
          <a:xfrm>
            <a:off x="7997726" y="225549"/>
            <a:ext cx="95294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238" kern="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 / 20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48580" y="369540"/>
            <a:ext cx="431150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238" kern="0" dirty="0">
                <a:solidFill>
                  <a:srgbClr val="2B5F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PROBLEM / STUDENT &amp; PARENT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580" y="594420"/>
            <a:ext cx="7286208" cy="376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527"/>
              </a:spcBef>
              <a:buNone/>
            </a:pPr>
            <a:r>
              <a:rPr lang="en-US" sz="2340" b="1" spc="-94" kern="0" dirty="0">
                <a:solidFill>
                  <a:srgbClr val="1A1F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Students and parents aren't served either</a:t>
            </a:r>
            <a:endParaRPr lang="en-US" sz="2340" dirty="0"/>
          </a:p>
        </p:txBody>
      </p:sp>
      <p:sp>
        <p:nvSpPr>
          <p:cNvPr id="7" name="Shape 5"/>
          <p:cNvSpPr/>
          <p:nvPr/>
        </p:nvSpPr>
        <p:spPr>
          <a:xfrm>
            <a:off x="547650" y="1143298"/>
            <a:ext cx="3933825" cy="1905000"/>
          </a:xfrm>
          <a:prstGeom prst="rect">
            <a:avLst/>
          </a:prstGeom>
          <a:solidFill>
            <a:srgbClr val="F4F6F9"/>
          </a:solidFill>
          <a:ln w="4763">
            <a:solidFill>
              <a:srgbClr val="D9E0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5695" y="1251384"/>
            <a:ext cx="366712" cy="366712"/>
          </a:xfrm>
          <a:prstGeom prst="rect">
            <a:avLst/>
          </a:prstGeom>
          <a:solidFill>
            <a:srgbClr val="FFFFFF"/>
          </a:solidFill>
          <a:ln w="4763">
            <a:solidFill>
              <a:srgbClr val="2B5FE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784" y="1311473"/>
            <a:ext cx="246534" cy="24653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93304" y="1302916"/>
            <a:ext cx="122729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b="1" dirty="0">
                <a:solidFill>
                  <a:srgbClr val="1A1F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Students</a:t>
            </a:r>
            <a:endParaRPr lang="en-US" sz="1580" dirty="0"/>
          </a:p>
        </p:txBody>
      </p:sp>
      <p:sp>
        <p:nvSpPr>
          <p:cNvPr id="11" name="Shape 8"/>
          <p:cNvSpPr/>
          <p:nvPr/>
        </p:nvSpPr>
        <p:spPr>
          <a:xfrm>
            <a:off x="737034" y="1813806"/>
            <a:ext cx="71438" cy="71438"/>
          </a:xfrm>
          <a:prstGeom prst="rect">
            <a:avLst/>
          </a:prstGeom>
          <a:solidFill>
            <a:srgbClr val="2B5FE0"/>
          </a:solidFill>
          <a:ln/>
        </p:spPr>
      </p:sp>
      <p:sp>
        <p:nvSpPr>
          <p:cNvPr id="12" name="Text 9"/>
          <p:cNvSpPr/>
          <p:nvPr/>
        </p:nvSpPr>
        <p:spPr>
          <a:xfrm>
            <a:off x="900708" y="1762348"/>
            <a:ext cx="421873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Students rely on personal recommendations</a:t>
            </a:r>
            <a:endParaRPr lang="en-US" sz="1220" dirty="0"/>
          </a:p>
        </p:txBody>
      </p:sp>
      <p:sp>
        <p:nvSpPr>
          <p:cNvPr id="13" name="Text 10"/>
          <p:cNvSpPr/>
          <p:nvPr/>
        </p:nvSpPr>
        <p:spPr>
          <a:xfrm>
            <a:off x="900708" y="1951955"/>
            <a:ext cx="401432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with no way to compare tutors by subject,</a:t>
            </a:r>
            <a:endParaRPr lang="en-US" sz="1220" dirty="0"/>
          </a:p>
        </p:txBody>
      </p:sp>
      <p:sp>
        <p:nvSpPr>
          <p:cNvPr id="14" name="Text 11"/>
          <p:cNvSpPr/>
          <p:nvPr/>
        </p:nvSpPr>
        <p:spPr>
          <a:xfrm>
            <a:off x="900708" y="2141562"/>
            <a:ext cx="290909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price, rating, or teaching mode</a:t>
            </a:r>
            <a:endParaRPr lang="en-US" sz="1220" dirty="0"/>
          </a:p>
        </p:txBody>
      </p:sp>
      <p:sp>
        <p:nvSpPr>
          <p:cNvPr id="15" name="Shape 12"/>
          <p:cNvSpPr/>
          <p:nvPr/>
        </p:nvSpPr>
        <p:spPr>
          <a:xfrm>
            <a:off x="737034" y="2485467"/>
            <a:ext cx="71438" cy="71438"/>
          </a:xfrm>
          <a:prstGeom prst="rect">
            <a:avLst/>
          </a:prstGeom>
          <a:solidFill>
            <a:srgbClr val="2B5FE0"/>
          </a:solidFill>
          <a:ln/>
        </p:spPr>
      </p:sp>
      <p:sp>
        <p:nvSpPr>
          <p:cNvPr id="16" name="Text 13"/>
          <p:cNvSpPr/>
          <p:nvPr/>
        </p:nvSpPr>
        <p:spPr>
          <a:xfrm>
            <a:off x="900708" y="2434010"/>
            <a:ext cx="380933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Booking and payment for a session is an</a:t>
            </a:r>
            <a:endParaRPr lang="en-US" sz="1220" dirty="0"/>
          </a:p>
        </p:txBody>
      </p:sp>
      <p:sp>
        <p:nvSpPr>
          <p:cNvPr id="17" name="Text 14"/>
          <p:cNvSpPr/>
          <p:nvPr/>
        </p:nvSpPr>
        <p:spPr>
          <a:xfrm>
            <a:off x="900708" y="2623617"/>
            <a:ext cx="286710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unstructured, ad-hoc process</a:t>
            </a:r>
            <a:endParaRPr lang="en-US" sz="1220" dirty="0"/>
          </a:p>
        </p:txBody>
      </p:sp>
      <p:sp>
        <p:nvSpPr>
          <p:cNvPr id="18" name="Shape 15"/>
          <p:cNvSpPr/>
          <p:nvPr/>
        </p:nvSpPr>
        <p:spPr>
          <a:xfrm>
            <a:off x="4662488" y="1143298"/>
            <a:ext cx="3933825" cy="1905000"/>
          </a:xfrm>
          <a:prstGeom prst="rect">
            <a:avLst/>
          </a:prstGeom>
          <a:solidFill>
            <a:srgbClr val="F4F6F9"/>
          </a:solidFill>
          <a:ln w="4763">
            <a:solidFill>
              <a:srgbClr val="D9E0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850495" y="1251384"/>
            <a:ext cx="366712" cy="366712"/>
          </a:xfrm>
          <a:prstGeom prst="rect">
            <a:avLst/>
          </a:prstGeom>
          <a:solidFill>
            <a:srgbClr val="FFFFFF"/>
          </a:solidFill>
          <a:ln w="4763">
            <a:solidFill>
              <a:srgbClr val="14B8A6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584" y="1311473"/>
            <a:ext cx="246534" cy="24653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308104" y="1302916"/>
            <a:ext cx="102704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b="1" dirty="0">
                <a:solidFill>
                  <a:srgbClr val="1A1F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Parents</a:t>
            </a:r>
            <a:endParaRPr lang="en-US" sz="1580" dirty="0"/>
          </a:p>
        </p:txBody>
      </p:sp>
      <p:sp>
        <p:nvSpPr>
          <p:cNvPr id="22" name="Shape 18"/>
          <p:cNvSpPr/>
          <p:nvPr/>
        </p:nvSpPr>
        <p:spPr>
          <a:xfrm>
            <a:off x="4851834" y="1813806"/>
            <a:ext cx="71438" cy="71438"/>
          </a:xfrm>
          <a:prstGeom prst="rect">
            <a:avLst/>
          </a:prstGeom>
          <a:solidFill>
            <a:srgbClr val="2B5FE0"/>
          </a:solidFill>
          <a:ln/>
        </p:spPr>
      </p:sp>
      <p:sp>
        <p:nvSpPr>
          <p:cNvPr id="23" name="Text 19"/>
          <p:cNvSpPr/>
          <p:nvPr/>
        </p:nvSpPr>
        <p:spPr>
          <a:xfrm>
            <a:off x="5015508" y="1762348"/>
            <a:ext cx="394748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Parents have almost no visibility into their</a:t>
            </a:r>
            <a:endParaRPr lang="en-US" sz="1220" dirty="0"/>
          </a:p>
        </p:txBody>
      </p:sp>
      <p:sp>
        <p:nvSpPr>
          <p:cNvPr id="24" name="Text 20"/>
          <p:cNvSpPr/>
          <p:nvPr/>
        </p:nvSpPr>
        <p:spPr>
          <a:xfrm>
            <a:off x="5015508" y="1951955"/>
            <a:ext cx="347384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child's sessions or academic activity</a:t>
            </a:r>
            <a:endParaRPr lang="en-US" sz="1220" dirty="0"/>
          </a:p>
        </p:txBody>
      </p:sp>
      <p:sp>
        <p:nvSpPr>
          <p:cNvPr id="25" name="Shape 21"/>
          <p:cNvSpPr/>
          <p:nvPr/>
        </p:nvSpPr>
        <p:spPr>
          <a:xfrm>
            <a:off x="4851834" y="2295860"/>
            <a:ext cx="71438" cy="71438"/>
          </a:xfrm>
          <a:prstGeom prst="rect">
            <a:avLst/>
          </a:prstGeom>
          <a:solidFill>
            <a:srgbClr val="2B5FE0"/>
          </a:solidFill>
          <a:ln/>
        </p:spPr>
      </p:sp>
      <p:sp>
        <p:nvSpPr>
          <p:cNvPr id="26" name="Text 22"/>
          <p:cNvSpPr/>
          <p:nvPr/>
        </p:nvSpPr>
        <p:spPr>
          <a:xfrm>
            <a:off x="5015508" y="2244403"/>
            <a:ext cx="379889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They depend entirely on direct, informal</a:t>
            </a:r>
            <a:endParaRPr lang="en-US" sz="1220" dirty="0"/>
          </a:p>
        </p:txBody>
      </p:sp>
      <p:sp>
        <p:nvSpPr>
          <p:cNvPr id="27" name="Text 23"/>
          <p:cNvSpPr/>
          <p:nvPr/>
        </p:nvSpPr>
        <p:spPr>
          <a:xfrm>
            <a:off x="5015508" y="2434010"/>
            <a:ext cx="398849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communication with the tutor for updates</a:t>
            </a:r>
            <a:endParaRPr lang="en-US" sz="1220" dirty="0"/>
          </a:p>
        </p:txBody>
      </p:sp>
      <p:sp>
        <p:nvSpPr>
          <p:cNvPr id="28" name="Text 24"/>
          <p:cNvSpPr/>
          <p:nvPr/>
        </p:nvSpPr>
        <p:spPr>
          <a:xfrm>
            <a:off x="548580" y="4535909"/>
            <a:ext cx="644477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86" kern="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MARKET HAS FRAGMENTED TOOLS — NOT A SHARED SYSTEM</a:t>
            </a:r>
            <a:endParaRPr lang="en-US" sz="10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54632"/>
            <a:ext cx="8229600" cy="9525"/>
          </a:xfrm>
          <a:prstGeom prst="rect">
            <a:avLst/>
          </a:prstGeom>
          <a:solidFill>
            <a:srgbClr val="2B5FE0"/>
          </a:solidFill>
          <a:ln/>
        </p:spPr>
      </p:sp>
      <p:sp>
        <p:nvSpPr>
          <p:cNvPr id="4" name="Text 2"/>
          <p:cNvSpPr/>
          <p:nvPr/>
        </p:nvSpPr>
        <p:spPr>
          <a:xfrm>
            <a:off x="7991326" y="225549"/>
            <a:ext cx="96126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238" kern="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 / 20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48580" y="369540"/>
            <a:ext cx="179611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238" kern="0" dirty="0">
                <a:solidFill>
                  <a:srgbClr val="2B5F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SOLUTION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580" y="594420"/>
            <a:ext cx="9034076" cy="376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527"/>
              </a:spcBef>
              <a:buNone/>
            </a:pPr>
            <a:r>
              <a:rPr lang="en-US" sz="2340" b="1" spc="-94" kern="0" dirty="0">
                <a:solidFill>
                  <a:srgbClr val="1A1F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system. Built for the tutor. Open to the student.</a:t>
            </a:r>
            <a:endParaRPr lang="en-US" sz="2340" dirty="0"/>
          </a:p>
        </p:txBody>
      </p:sp>
      <p:sp>
        <p:nvSpPr>
          <p:cNvPr id="7" name="Shape 5"/>
          <p:cNvSpPr/>
          <p:nvPr/>
        </p:nvSpPr>
        <p:spPr>
          <a:xfrm>
            <a:off x="548580" y="1091803"/>
            <a:ext cx="2590800" cy="1371600"/>
          </a:xfrm>
          <a:prstGeom prst="rect">
            <a:avLst/>
          </a:prstGeom>
          <a:solidFill>
            <a:srgbClr val="F4F6F9"/>
          </a:solidFill>
          <a:ln w="4763">
            <a:solidFill>
              <a:srgbClr val="D9E0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6178" y="1209973"/>
            <a:ext cx="78249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73" kern="0" dirty="0">
                <a:solidFill>
                  <a:srgbClr val="2B5F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TUTOR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737034" y="1525153"/>
            <a:ext cx="71438" cy="71438"/>
          </a:xfrm>
          <a:prstGeom prst="rect">
            <a:avLst/>
          </a:prstGeom>
          <a:solidFill>
            <a:srgbClr val="2B5FE0"/>
          </a:solidFill>
          <a:ln/>
        </p:spPr>
      </p:sp>
      <p:sp>
        <p:nvSpPr>
          <p:cNvPr id="10" name="Text 8"/>
          <p:cNvSpPr/>
          <p:nvPr/>
        </p:nvSpPr>
        <p:spPr>
          <a:xfrm>
            <a:off x="900708" y="1473696"/>
            <a:ext cx="169976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Professional page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737034" y="1771315"/>
            <a:ext cx="71438" cy="71438"/>
          </a:xfrm>
          <a:prstGeom prst="rect">
            <a:avLst/>
          </a:prstGeom>
          <a:solidFill>
            <a:srgbClr val="2B5FE0"/>
          </a:solidFill>
          <a:ln/>
        </p:spPr>
      </p:sp>
      <p:sp>
        <p:nvSpPr>
          <p:cNvPr id="12" name="Text 10"/>
          <p:cNvSpPr/>
          <p:nvPr/>
        </p:nvSpPr>
        <p:spPr>
          <a:xfrm>
            <a:off x="900708" y="1719858"/>
            <a:ext cx="270042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Sessions, students &amp; groups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737034" y="2017477"/>
            <a:ext cx="71438" cy="71438"/>
          </a:xfrm>
          <a:prstGeom prst="rect">
            <a:avLst/>
          </a:prstGeom>
          <a:solidFill>
            <a:srgbClr val="2B5FE0"/>
          </a:solidFill>
          <a:ln/>
        </p:spPr>
      </p:sp>
      <p:sp>
        <p:nvSpPr>
          <p:cNvPr id="14" name="Text 12"/>
          <p:cNvSpPr/>
          <p:nvPr/>
        </p:nvSpPr>
        <p:spPr>
          <a:xfrm>
            <a:off x="900708" y="1966020"/>
            <a:ext cx="175123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Income and wallet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900708" y="2155627"/>
            <a:ext cx="128611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management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3276563" y="1091803"/>
            <a:ext cx="2590800" cy="1371600"/>
          </a:xfrm>
          <a:prstGeom prst="rect">
            <a:avLst/>
          </a:prstGeom>
          <a:solidFill>
            <a:srgbClr val="F4F6F9"/>
          </a:solidFill>
          <a:ln w="4763">
            <a:solidFill>
              <a:srgbClr val="D9E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64123" y="1209973"/>
            <a:ext cx="105829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73" kern="0" dirty="0">
                <a:solidFill>
                  <a:srgbClr val="2B5F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STUDENT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3464979" y="1525153"/>
            <a:ext cx="71438" cy="71438"/>
          </a:xfrm>
          <a:prstGeom prst="rect">
            <a:avLst/>
          </a:prstGeom>
          <a:solidFill>
            <a:srgbClr val="2B5FE0"/>
          </a:solidFill>
          <a:ln/>
        </p:spPr>
      </p:sp>
      <p:sp>
        <p:nvSpPr>
          <p:cNvPr id="19" name="Text 17"/>
          <p:cNvSpPr/>
          <p:nvPr/>
        </p:nvSpPr>
        <p:spPr>
          <a:xfrm>
            <a:off x="3628653" y="1473696"/>
            <a:ext cx="262951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Find a Teacher marketplace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3464979" y="1771315"/>
            <a:ext cx="71438" cy="71438"/>
          </a:xfrm>
          <a:prstGeom prst="rect">
            <a:avLst/>
          </a:prstGeom>
          <a:solidFill>
            <a:srgbClr val="2B5FE0"/>
          </a:solidFill>
          <a:ln/>
        </p:spPr>
      </p:sp>
      <p:sp>
        <p:nvSpPr>
          <p:cNvPr id="21" name="Text 19"/>
          <p:cNvSpPr/>
          <p:nvPr/>
        </p:nvSpPr>
        <p:spPr>
          <a:xfrm>
            <a:off x="3628653" y="1719858"/>
            <a:ext cx="259382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Search, compare, and book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3464979" y="2017477"/>
            <a:ext cx="71438" cy="71438"/>
          </a:xfrm>
          <a:prstGeom prst="rect">
            <a:avLst/>
          </a:prstGeom>
          <a:solidFill>
            <a:srgbClr val="2B5FE0"/>
          </a:solidFill>
          <a:ln/>
        </p:spPr>
      </p:sp>
      <p:sp>
        <p:nvSpPr>
          <p:cNvPr id="23" name="Text 21"/>
          <p:cNvSpPr/>
          <p:nvPr/>
        </p:nvSpPr>
        <p:spPr>
          <a:xfrm>
            <a:off x="3628653" y="1966020"/>
            <a:ext cx="204009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Rate after completed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3628653" y="2155627"/>
            <a:ext cx="86172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sessions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6004582" y="1091803"/>
            <a:ext cx="2590800" cy="1371600"/>
          </a:xfrm>
          <a:prstGeom prst="rect">
            <a:avLst/>
          </a:prstGeom>
          <a:solidFill>
            <a:srgbClr val="F4F6F9"/>
          </a:solidFill>
          <a:ln w="4763">
            <a:solidFill>
              <a:srgbClr val="D9E0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2143" y="1209973"/>
            <a:ext cx="90409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73" kern="0" dirty="0">
                <a:solidFill>
                  <a:srgbClr val="2B5F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PARENT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6192999" y="1525153"/>
            <a:ext cx="71438" cy="71438"/>
          </a:xfrm>
          <a:prstGeom prst="rect">
            <a:avLst/>
          </a:prstGeom>
          <a:solidFill>
            <a:srgbClr val="2B5FE0"/>
          </a:solidFill>
          <a:ln/>
        </p:spPr>
      </p:sp>
      <p:sp>
        <p:nvSpPr>
          <p:cNvPr id="28" name="Text 26"/>
          <p:cNvSpPr/>
          <p:nvPr/>
        </p:nvSpPr>
        <p:spPr>
          <a:xfrm>
            <a:off x="6356672" y="1473696"/>
            <a:ext cx="265844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Read-only linked-child view</a:t>
            </a:r>
            <a:endParaRPr lang="en-US" sz="1220" dirty="0"/>
          </a:p>
        </p:txBody>
      </p:sp>
      <p:sp>
        <p:nvSpPr>
          <p:cNvPr id="29" name="Shape 27"/>
          <p:cNvSpPr/>
          <p:nvPr/>
        </p:nvSpPr>
        <p:spPr>
          <a:xfrm>
            <a:off x="6192999" y="1771315"/>
            <a:ext cx="71438" cy="71438"/>
          </a:xfrm>
          <a:prstGeom prst="rect">
            <a:avLst/>
          </a:prstGeom>
          <a:solidFill>
            <a:srgbClr val="2B5FE0"/>
          </a:solidFill>
          <a:ln/>
        </p:spPr>
      </p:sp>
      <p:sp>
        <p:nvSpPr>
          <p:cNvPr id="30" name="Text 28"/>
          <p:cNvSpPr/>
          <p:nvPr/>
        </p:nvSpPr>
        <p:spPr>
          <a:xfrm>
            <a:off x="6356672" y="1719858"/>
            <a:ext cx="242569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Attendance and progress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6356672" y="1909465"/>
            <a:ext cx="82196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visibility</a:t>
            </a:r>
            <a:endParaRPr lang="en-US" sz="1220" dirty="0"/>
          </a:p>
        </p:txBody>
      </p:sp>
      <p:sp>
        <p:nvSpPr>
          <p:cNvPr id="32" name="Shape 30"/>
          <p:cNvSpPr/>
          <p:nvPr/>
        </p:nvSpPr>
        <p:spPr>
          <a:xfrm>
            <a:off x="6192999" y="2207084"/>
            <a:ext cx="71438" cy="71438"/>
          </a:xfrm>
          <a:prstGeom prst="rect">
            <a:avLst/>
          </a:prstGeom>
          <a:solidFill>
            <a:srgbClr val="2B5FE0"/>
          </a:solidFill>
          <a:ln/>
        </p:spPr>
      </p:sp>
      <p:sp>
        <p:nvSpPr>
          <p:cNvPr id="33" name="Text 31"/>
          <p:cNvSpPr/>
          <p:nvPr/>
        </p:nvSpPr>
        <p:spPr>
          <a:xfrm>
            <a:off x="6356672" y="2155627"/>
            <a:ext cx="244774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Scoped access by design</a:t>
            </a:r>
            <a:endParaRPr lang="en-US" sz="1220" dirty="0"/>
          </a:p>
        </p:txBody>
      </p:sp>
      <p:sp>
        <p:nvSpPr>
          <p:cNvPr id="34" name="Text 32"/>
          <p:cNvSpPr/>
          <p:nvPr/>
        </p:nvSpPr>
        <p:spPr>
          <a:xfrm>
            <a:off x="759991" y="2700486"/>
            <a:ext cx="756578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20" b="1" spc="-32" kern="0" dirty="0">
                <a:solidFill>
                  <a:srgbClr val="1A1F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Academia is not just a place to find a tutor — it's a complete</a:t>
            </a:r>
            <a:endParaRPr lang="en-US" sz="1620" dirty="0"/>
          </a:p>
        </p:txBody>
      </p:sp>
      <p:sp>
        <p:nvSpPr>
          <p:cNvPr id="35" name="Text 33"/>
          <p:cNvSpPr/>
          <p:nvPr/>
        </p:nvSpPr>
        <p:spPr>
          <a:xfrm>
            <a:off x="759991" y="2937049"/>
            <a:ext cx="928395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20" b="1" spc="-32" kern="0" dirty="0">
                <a:solidFill>
                  <a:srgbClr val="1A1F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business-management tool for the private tutor, from getting students to managing</a:t>
            </a:r>
            <a:endParaRPr lang="en-US" sz="1620" dirty="0"/>
          </a:p>
        </p:txBody>
      </p:sp>
      <p:sp>
        <p:nvSpPr>
          <p:cNvPr id="36" name="Text 34"/>
          <p:cNvSpPr/>
          <p:nvPr/>
        </p:nvSpPr>
        <p:spPr>
          <a:xfrm>
            <a:off x="759991" y="3173611"/>
            <a:ext cx="270690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20" b="1" spc="-32" kern="0" dirty="0">
                <a:solidFill>
                  <a:srgbClr val="1A1F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sessions and income.</a:t>
            </a:r>
            <a:endParaRPr lang="en-US" sz="1620" dirty="0"/>
          </a:p>
        </p:txBody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7688" y="2719574"/>
            <a:ext cx="8048625" cy="7096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54632"/>
            <a:ext cx="8229600" cy="9525"/>
          </a:xfrm>
          <a:prstGeom prst="rect">
            <a:avLst/>
          </a:prstGeom>
          <a:solidFill>
            <a:srgbClr val="2B5FE0"/>
          </a:solidFill>
          <a:ln/>
        </p:spPr>
      </p:sp>
      <p:sp>
        <p:nvSpPr>
          <p:cNvPr id="4" name="Text 2"/>
          <p:cNvSpPr/>
          <p:nvPr/>
        </p:nvSpPr>
        <p:spPr>
          <a:xfrm>
            <a:off x="7995270" y="225549"/>
            <a:ext cx="95613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238" kern="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 / 20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48580" y="369540"/>
            <a:ext cx="284340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238" kern="0" dirty="0">
                <a:solidFill>
                  <a:srgbClr val="2B5F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STUDENT JOURNEY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580" y="594420"/>
            <a:ext cx="3484974" cy="376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527"/>
              </a:spcBef>
              <a:buNone/>
            </a:pPr>
            <a:r>
              <a:rPr lang="en-US" sz="2340" b="1" spc="-94" kern="0" dirty="0">
                <a:solidFill>
                  <a:srgbClr val="1A1F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students use it</a:t>
            </a:r>
            <a:endParaRPr lang="en-US" sz="2340" dirty="0"/>
          </a:p>
        </p:txBody>
      </p:sp>
      <p:sp>
        <p:nvSpPr>
          <p:cNvPr id="7" name="Text 5"/>
          <p:cNvSpPr/>
          <p:nvPr/>
        </p:nvSpPr>
        <p:spPr>
          <a:xfrm>
            <a:off x="548580" y="1010915"/>
            <a:ext cx="4148212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07"/>
              </a:spcBef>
              <a:buNone/>
            </a:pPr>
            <a:r>
              <a:rPr lang="en-US" sz="119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simple, visible path from discovery to trust.</a:t>
            </a:r>
            <a:endParaRPr lang="en-US" sz="1190" dirty="0"/>
          </a:p>
        </p:txBody>
      </p:sp>
      <p:sp>
        <p:nvSpPr>
          <p:cNvPr id="8" name="Shape 6"/>
          <p:cNvSpPr/>
          <p:nvPr/>
        </p:nvSpPr>
        <p:spPr>
          <a:xfrm>
            <a:off x="2072357" y="2286707"/>
            <a:ext cx="1004887" cy="366712"/>
          </a:xfrm>
          <a:prstGeom prst="rect">
            <a:avLst/>
          </a:prstGeom>
          <a:solidFill>
            <a:srgbClr val="2B5FE0"/>
          </a:solidFill>
          <a:ln w="4763">
            <a:solidFill>
              <a:srgbClr val="2B5F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1500" y="2375595"/>
            <a:ext cx="66660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5F7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Search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3132534" y="2351931"/>
            <a:ext cx="256334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14B8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1440" dirty="0"/>
          </a:p>
        </p:txBody>
      </p:sp>
      <p:sp>
        <p:nvSpPr>
          <p:cNvPr id="11" name="Shape 9"/>
          <p:cNvSpPr/>
          <p:nvPr/>
        </p:nvSpPr>
        <p:spPr>
          <a:xfrm>
            <a:off x="3341043" y="2286707"/>
            <a:ext cx="1004887" cy="366712"/>
          </a:xfrm>
          <a:prstGeom prst="rect">
            <a:avLst/>
          </a:prstGeom>
          <a:solidFill>
            <a:srgbClr val="F4F6F9"/>
          </a:solidFill>
          <a:ln w="4763">
            <a:solidFill>
              <a:srgbClr val="D9E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0847" y="2375595"/>
            <a:ext cx="86520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Compare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4401220" y="2351931"/>
            <a:ext cx="256334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14B8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1440" dirty="0"/>
          </a:p>
        </p:txBody>
      </p:sp>
      <p:sp>
        <p:nvSpPr>
          <p:cNvPr id="14" name="Shape 12"/>
          <p:cNvSpPr/>
          <p:nvPr/>
        </p:nvSpPr>
        <p:spPr>
          <a:xfrm>
            <a:off x="4609728" y="2210544"/>
            <a:ext cx="1004887" cy="519112"/>
          </a:xfrm>
          <a:prstGeom prst="rect">
            <a:avLst/>
          </a:prstGeom>
          <a:solidFill>
            <a:srgbClr val="F4F6F9"/>
          </a:solidFill>
          <a:ln w="4763">
            <a:solidFill>
              <a:srgbClr val="D9E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79629" y="2300213"/>
            <a:ext cx="86501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Choose a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4733125" y="2451050"/>
            <a:ext cx="75801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Teacher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5669905" y="2351931"/>
            <a:ext cx="256334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14B8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1440" dirty="0"/>
          </a:p>
        </p:txBody>
      </p:sp>
      <p:sp>
        <p:nvSpPr>
          <p:cNvPr id="18" name="Shape 16"/>
          <p:cNvSpPr/>
          <p:nvPr/>
        </p:nvSpPr>
        <p:spPr>
          <a:xfrm>
            <a:off x="5877334" y="2210544"/>
            <a:ext cx="1195387" cy="519112"/>
          </a:xfrm>
          <a:prstGeom prst="rect">
            <a:avLst/>
          </a:prstGeom>
          <a:solidFill>
            <a:srgbClr val="F4F6F9"/>
          </a:solidFill>
          <a:ln w="4763">
            <a:solidFill>
              <a:srgbClr val="D9E0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4753" y="2300213"/>
            <a:ext cx="124054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Send Booking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6087699" y="2451050"/>
            <a:ext cx="77465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Request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2800871" y="3315407"/>
            <a:ext cx="1004887" cy="366712"/>
          </a:xfrm>
          <a:prstGeom prst="rect">
            <a:avLst/>
          </a:prstGeom>
          <a:solidFill>
            <a:srgbClr val="F4F6F9"/>
          </a:solidFill>
          <a:ln w="4763">
            <a:solidFill>
              <a:srgbClr val="D9E0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18422" y="3404295"/>
            <a:ext cx="36971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Pay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3861048" y="3380631"/>
            <a:ext cx="256334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14B8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1440" dirty="0"/>
          </a:p>
        </p:txBody>
      </p:sp>
      <p:sp>
        <p:nvSpPr>
          <p:cNvPr id="24" name="Shape 22"/>
          <p:cNvSpPr/>
          <p:nvPr/>
        </p:nvSpPr>
        <p:spPr>
          <a:xfrm>
            <a:off x="4069556" y="3239244"/>
            <a:ext cx="1004887" cy="519112"/>
          </a:xfrm>
          <a:prstGeom prst="rect">
            <a:avLst/>
          </a:prstGeom>
          <a:solidFill>
            <a:srgbClr val="F4F6F9"/>
          </a:solidFill>
          <a:ln w="4763">
            <a:solidFill>
              <a:srgbClr val="D9E0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41516" y="3328913"/>
            <a:ext cx="66089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Attend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4207367" y="3479750"/>
            <a:ext cx="72919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Session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5129733" y="3380631"/>
            <a:ext cx="256334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14B8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1440" dirty="0"/>
          </a:p>
        </p:txBody>
      </p:sp>
      <p:sp>
        <p:nvSpPr>
          <p:cNvPr id="28" name="Shape 26"/>
          <p:cNvSpPr/>
          <p:nvPr/>
        </p:nvSpPr>
        <p:spPr>
          <a:xfrm>
            <a:off x="5338242" y="3315407"/>
            <a:ext cx="1004887" cy="366712"/>
          </a:xfrm>
          <a:prstGeom prst="rect">
            <a:avLst/>
          </a:prstGeom>
          <a:solidFill>
            <a:srgbClr val="2B5FE0"/>
          </a:solidFill>
          <a:ln w="4763">
            <a:solidFill>
              <a:srgbClr val="2B5F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14861" y="3404295"/>
            <a:ext cx="45164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5F7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Rate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548580" y="4484489"/>
            <a:ext cx="467359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08" kern="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DISCOVERY → DECISION → DELIVERY → TRUST</a:t>
            </a:r>
            <a:endParaRPr lang="en-US" sz="10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54632"/>
            <a:ext cx="8229600" cy="9525"/>
          </a:xfrm>
          <a:prstGeom prst="rect">
            <a:avLst/>
          </a:prstGeom>
          <a:solidFill>
            <a:srgbClr val="2B5FE0"/>
          </a:solidFill>
          <a:ln/>
        </p:spPr>
      </p:sp>
      <p:sp>
        <p:nvSpPr>
          <p:cNvPr id="4" name="Text 2"/>
          <p:cNvSpPr/>
          <p:nvPr/>
        </p:nvSpPr>
        <p:spPr>
          <a:xfrm>
            <a:off x="7993484" y="225549"/>
            <a:ext cx="95846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238" kern="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06 / 20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48580" y="369540"/>
            <a:ext cx="684933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238" kern="0" dirty="0">
                <a:solidFill>
                  <a:srgbClr val="2B5F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 SPOTLIGHT / TEACHER BUSINESS MANAGEMENT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580" y="594420"/>
            <a:ext cx="5035108" cy="376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527"/>
              </a:spcBef>
              <a:buNone/>
            </a:pPr>
            <a:r>
              <a:rPr lang="en-US" sz="2340" b="1" spc="-94" kern="0" dirty="0">
                <a:solidFill>
                  <a:srgbClr val="1A1F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This is the heart of Academia</a:t>
            </a:r>
            <a:endParaRPr lang="en-US" sz="2340" dirty="0"/>
          </a:p>
        </p:txBody>
      </p:sp>
      <p:sp>
        <p:nvSpPr>
          <p:cNvPr id="7" name="Shape 5"/>
          <p:cNvSpPr/>
          <p:nvPr/>
        </p:nvSpPr>
        <p:spPr>
          <a:xfrm>
            <a:off x="548878" y="1091915"/>
            <a:ext cx="1928813" cy="1328738"/>
          </a:xfrm>
          <a:prstGeom prst="rect">
            <a:avLst/>
          </a:prstGeom>
          <a:solidFill>
            <a:srgbClr val="F4F6F9"/>
          </a:solidFill>
          <a:ln w="4763">
            <a:solidFill>
              <a:srgbClr val="D9E0E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178" y="1200448"/>
            <a:ext cx="365745" cy="36574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6178" y="1647304"/>
            <a:ext cx="2055086" cy="416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190" b="1" dirty="0">
                <a:solidFill>
                  <a:srgbClr val="1A1F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Professional profile &amp;</a:t>
            </a:r>
            <a:endParaRPr lang="en-US" sz="1190" dirty="0"/>
          </a:p>
          <a:p>
            <a:pPr algn="l" indent="0" marL="0">
              <a:lnSpc>
                <a:spcPts val="1782"/>
              </a:lnSpc>
              <a:buNone/>
            </a:pPr>
            <a:r>
              <a:rPr lang="en-US" sz="1190" b="1" dirty="0">
                <a:solidFill>
                  <a:srgbClr val="1A1F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public page</a:t>
            </a:r>
            <a:endParaRPr lang="en-US" sz="1190" dirty="0"/>
          </a:p>
        </p:txBody>
      </p:sp>
      <p:sp>
        <p:nvSpPr>
          <p:cNvPr id="10" name="Shape 7"/>
          <p:cNvSpPr/>
          <p:nvPr/>
        </p:nvSpPr>
        <p:spPr>
          <a:xfrm>
            <a:off x="2588009" y="1091915"/>
            <a:ext cx="1928813" cy="1328738"/>
          </a:xfrm>
          <a:prstGeom prst="rect">
            <a:avLst/>
          </a:prstGeom>
          <a:solidFill>
            <a:srgbClr val="F4F6F9"/>
          </a:solidFill>
          <a:ln w="4763">
            <a:solidFill>
              <a:srgbClr val="D9E0E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5272" y="1200448"/>
            <a:ext cx="365745" cy="36574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75272" y="1647304"/>
            <a:ext cx="1942773" cy="416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190" b="1" dirty="0">
                <a:solidFill>
                  <a:srgbClr val="1A1F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Subjects, services &amp;</a:t>
            </a:r>
            <a:endParaRPr lang="en-US" sz="1190" dirty="0"/>
          </a:p>
          <a:p>
            <a:pPr algn="l" indent="0" marL="0">
              <a:lnSpc>
                <a:spcPts val="1782"/>
              </a:lnSpc>
              <a:buNone/>
            </a:pPr>
            <a:r>
              <a:rPr lang="en-US" sz="1190" b="1" dirty="0">
                <a:solidFill>
                  <a:srgbClr val="1A1F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pricing display</a:t>
            </a:r>
            <a:endParaRPr lang="en-US" sz="1190" dirty="0"/>
          </a:p>
        </p:txBody>
      </p:sp>
      <p:sp>
        <p:nvSpPr>
          <p:cNvPr id="13" name="Shape 9"/>
          <p:cNvSpPr/>
          <p:nvPr/>
        </p:nvSpPr>
        <p:spPr>
          <a:xfrm>
            <a:off x="4627141" y="1091915"/>
            <a:ext cx="1928813" cy="1328738"/>
          </a:xfrm>
          <a:prstGeom prst="rect">
            <a:avLst/>
          </a:prstGeom>
          <a:solidFill>
            <a:srgbClr val="F4F6F9"/>
          </a:solidFill>
          <a:ln w="4763">
            <a:solidFill>
              <a:srgbClr val="D9E0E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4441" y="1200448"/>
            <a:ext cx="365745" cy="36574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814441" y="1647304"/>
            <a:ext cx="1612605" cy="416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190" b="1" dirty="0">
                <a:solidFill>
                  <a:srgbClr val="1A1F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Student &amp; group</a:t>
            </a:r>
            <a:endParaRPr lang="en-US" sz="1190" dirty="0"/>
          </a:p>
          <a:p>
            <a:pPr algn="l" indent="0" marL="0">
              <a:lnSpc>
                <a:spcPts val="1782"/>
              </a:lnSpc>
              <a:buNone/>
            </a:pPr>
            <a:r>
              <a:rPr lang="en-US" sz="1190" b="1" dirty="0">
                <a:solidFill>
                  <a:srgbClr val="1A1F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management</a:t>
            </a:r>
            <a:endParaRPr lang="en-US" sz="1190" dirty="0"/>
          </a:p>
        </p:txBody>
      </p:sp>
      <p:sp>
        <p:nvSpPr>
          <p:cNvPr id="16" name="Shape 11"/>
          <p:cNvSpPr/>
          <p:nvPr/>
        </p:nvSpPr>
        <p:spPr>
          <a:xfrm>
            <a:off x="6666272" y="1091915"/>
            <a:ext cx="1928813" cy="1328738"/>
          </a:xfrm>
          <a:prstGeom prst="rect">
            <a:avLst/>
          </a:prstGeom>
          <a:solidFill>
            <a:srgbClr val="F4F6F9"/>
          </a:solidFill>
          <a:ln w="4763">
            <a:solidFill>
              <a:srgbClr val="D9E0EA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3535" y="1200448"/>
            <a:ext cx="365745" cy="36574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53535" y="1647304"/>
            <a:ext cx="2060600" cy="643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190" b="1" dirty="0">
                <a:solidFill>
                  <a:srgbClr val="1A1F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In-person AND online</a:t>
            </a:r>
            <a:endParaRPr lang="en-US" sz="1190" dirty="0"/>
          </a:p>
          <a:p>
            <a:pPr algn="l" indent="0" marL="0">
              <a:lnSpc>
                <a:spcPts val="1782"/>
              </a:lnSpc>
              <a:buNone/>
            </a:pPr>
            <a:r>
              <a:rPr lang="en-US" sz="1190" b="1" dirty="0">
                <a:solidFill>
                  <a:srgbClr val="1A1F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session management</a:t>
            </a:r>
            <a:endParaRPr lang="en-US" sz="1190" dirty="0"/>
          </a:p>
          <a:p>
            <a:pPr algn="l" indent="0" marL="0">
              <a:lnSpc>
                <a:spcPts val="1782"/>
              </a:lnSpc>
              <a:buNone/>
            </a:pPr>
            <a:r>
              <a:rPr lang="en-US" sz="1190" b="1" dirty="0">
                <a:solidFill>
                  <a:srgbClr val="1A1F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 one system</a:t>
            </a:r>
            <a:endParaRPr lang="en-US" sz="1190" dirty="0"/>
          </a:p>
        </p:txBody>
      </p:sp>
      <p:sp>
        <p:nvSpPr>
          <p:cNvPr id="19" name="Shape 13"/>
          <p:cNvSpPr/>
          <p:nvPr/>
        </p:nvSpPr>
        <p:spPr>
          <a:xfrm>
            <a:off x="548878" y="2521521"/>
            <a:ext cx="1928813" cy="628650"/>
          </a:xfrm>
          <a:prstGeom prst="rect">
            <a:avLst/>
          </a:prstGeom>
          <a:solidFill>
            <a:srgbClr val="F4F6F9"/>
          </a:solidFill>
          <a:ln w="4763">
            <a:solidFill>
              <a:srgbClr val="D9E0EA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736178" y="2639690"/>
            <a:ext cx="2045122" cy="386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Schedule &amp; availability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management</a:t>
            </a:r>
            <a:endParaRPr lang="en-US" sz="1080" dirty="0"/>
          </a:p>
        </p:txBody>
      </p:sp>
      <p:sp>
        <p:nvSpPr>
          <p:cNvPr id="21" name="Shape 15"/>
          <p:cNvSpPr/>
          <p:nvPr/>
        </p:nvSpPr>
        <p:spPr>
          <a:xfrm>
            <a:off x="2588009" y="2521521"/>
            <a:ext cx="1928813" cy="628650"/>
          </a:xfrm>
          <a:prstGeom prst="rect">
            <a:avLst/>
          </a:prstGeom>
          <a:solidFill>
            <a:srgbClr val="F4F6F9"/>
          </a:solidFill>
          <a:ln w="4763">
            <a:solidFill>
              <a:srgbClr val="D9E0EA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2775272" y="2639690"/>
            <a:ext cx="1957767" cy="386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Booking management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(accept/reject)</a:t>
            </a:r>
            <a:endParaRPr lang="en-US" sz="1080" dirty="0"/>
          </a:p>
        </p:txBody>
      </p:sp>
      <p:sp>
        <p:nvSpPr>
          <p:cNvPr id="23" name="Shape 17"/>
          <p:cNvSpPr/>
          <p:nvPr/>
        </p:nvSpPr>
        <p:spPr>
          <a:xfrm>
            <a:off x="4627141" y="2521521"/>
            <a:ext cx="1928813" cy="628650"/>
          </a:xfrm>
          <a:prstGeom prst="rect">
            <a:avLst/>
          </a:prstGeom>
          <a:solidFill>
            <a:srgbClr val="F4F6F9"/>
          </a:solidFill>
          <a:ln w="4763">
            <a:solidFill>
              <a:srgbClr val="D9E0EA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4814441" y="2639690"/>
            <a:ext cx="1797472" cy="386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Reschedule request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handling</a:t>
            </a:r>
            <a:endParaRPr lang="en-US" sz="1080" dirty="0"/>
          </a:p>
        </p:txBody>
      </p:sp>
      <p:sp>
        <p:nvSpPr>
          <p:cNvPr id="25" name="Shape 19"/>
          <p:cNvSpPr/>
          <p:nvPr/>
        </p:nvSpPr>
        <p:spPr>
          <a:xfrm>
            <a:off x="6666272" y="2521521"/>
            <a:ext cx="1928813" cy="628650"/>
          </a:xfrm>
          <a:prstGeom prst="rect">
            <a:avLst/>
          </a:prstGeom>
          <a:solidFill>
            <a:srgbClr val="F4F6F9"/>
          </a:solidFill>
          <a:ln w="4763">
            <a:solidFill>
              <a:srgbClr val="D9E0EA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6853535" y="2639690"/>
            <a:ext cx="1973245" cy="386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Attendance &amp; session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tracking</a:t>
            </a:r>
            <a:endParaRPr lang="en-US" sz="10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54632"/>
            <a:ext cx="8229600" cy="9525"/>
          </a:xfrm>
          <a:prstGeom prst="rect">
            <a:avLst/>
          </a:prstGeom>
          <a:solidFill>
            <a:srgbClr val="2B5FE0"/>
          </a:solidFill>
          <a:ln/>
        </p:spPr>
      </p:sp>
      <p:sp>
        <p:nvSpPr>
          <p:cNvPr id="4" name="Text 2"/>
          <p:cNvSpPr/>
          <p:nvPr/>
        </p:nvSpPr>
        <p:spPr>
          <a:xfrm>
            <a:off x="8007697" y="225549"/>
            <a:ext cx="93998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238" kern="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07 / 20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48580" y="369540"/>
            <a:ext cx="475350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238" kern="0" dirty="0">
                <a:solidFill>
                  <a:srgbClr val="2B5F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 SPOTLIGHT / FIND A TEACHER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580" y="594420"/>
            <a:ext cx="9618181" cy="376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527"/>
              </a:spcBef>
              <a:buNone/>
            </a:pPr>
            <a:r>
              <a:rPr lang="en-US" sz="2340" b="1" spc="-94" kern="0" dirty="0">
                <a:solidFill>
                  <a:srgbClr val="1A1F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professional digital presence, not just word-of-mouth</a:t>
            </a:r>
            <a:endParaRPr lang="en-US" sz="2340" dirty="0"/>
          </a:p>
        </p:txBody>
      </p:sp>
      <p:sp>
        <p:nvSpPr>
          <p:cNvPr id="7" name="Shape 5"/>
          <p:cNvSpPr/>
          <p:nvPr/>
        </p:nvSpPr>
        <p:spPr>
          <a:xfrm>
            <a:off x="1279178" y="1220465"/>
            <a:ext cx="1647825" cy="1647825"/>
          </a:xfrm>
          <a:prstGeom prst="rect">
            <a:avLst/>
          </a:prstGeom>
          <a:solidFill>
            <a:srgbClr val="F4F6F9"/>
          </a:solidFill>
          <a:ln w="4763">
            <a:solidFill>
              <a:srgbClr val="2B5FE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0180" y="1861468"/>
            <a:ext cx="365745" cy="36574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932411" y="1144265"/>
            <a:ext cx="4662488" cy="1800225"/>
          </a:xfrm>
          <a:prstGeom prst="rect">
            <a:avLst/>
          </a:prstGeom>
          <a:solidFill>
            <a:srgbClr val="F4F6F9"/>
          </a:solidFill>
          <a:ln w="4763">
            <a:solidFill>
              <a:srgbClr val="D9E0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9488" y="1261393"/>
            <a:ext cx="186499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73" kern="0" dirty="0">
                <a:solidFill>
                  <a:srgbClr val="2B5F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SEARCH FILTERS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4119488" y="1541338"/>
            <a:ext cx="70926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Subject</a:t>
            </a:r>
            <a:endParaRPr lang="en-US" sz="1120" dirty="0"/>
          </a:p>
        </p:txBody>
      </p:sp>
      <p:sp>
        <p:nvSpPr>
          <p:cNvPr id="12" name="Text 9"/>
          <p:cNvSpPr/>
          <p:nvPr/>
        </p:nvSpPr>
        <p:spPr>
          <a:xfrm>
            <a:off x="5594598" y="1541338"/>
            <a:ext cx="58524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Grade</a:t>
            </a:r>
            <a:endParaRPr lang="en-US" sz="1120" dirty="0"/>
          </a:p>
        </p:txBody>
      </p:sp>
      <p:sp>
        <p:nvSpPr>
          <p:cNvPr id="13" name="Text 10"/>
          <p:cNvSpPr/>
          <p:nvPr/>
        </p:nvSpPr>
        <p:spPr>
          <a:xfrm>
            <a:off x="7069782" y="1541338"/>
            <a:ext cx="110153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Area/Region</a:t>
            </a:r>
            <a:endParaRPr lang="en-US" sz="1120" dirty="0"/>
          </a:p>
        </p:txBody>
      </p:sp>
      <p:sp>
        <p:nvSpPr>
          <p:cNvPr id="14" name="Text 11"/>
          <p:cNvSpPr/>
          <p:nvPr/>
        </p:nvSpPr>
        <p:spPr>
          <a:xfrm>
            <a:off x="4119488" y="1764060"/>
            <a:ext cx="152776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Online/In-person</a:t>
            </a:r>
            <a:endParaRPr lang="en-US" sz="1120" dirty="0"/>
          </a:p>
        </p:txBody>
      </p:sp>
      <p:sp>
        <p:nvSpPr>
          <p:cNvPr id="15" name="Text 12"/>
          <p:cNvSpPr/>
          <p:nvPr/>
        </p:nvSpPr>
        <p:spPr>
          <a:xfrm>
            <a:off x="5594598" y="1764060"/>
            <a:ext cx="48637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Price</a:t>
            </a:r>
            <a:endParaRPr lang="en-US" sz="1120" dirty="0"/>
          </a:p>
        </p:txBody>
      </p:sp>
      <p:sp>
        <p:nvSpPr>
          <p:cNvPr id="16" name="Text 13"/>
          <p:cNvSpPr/>
          <p:nvPr/>
        </p:nvSpPr>
        <p:spPr>
          <a:xfrm>
            <a:off x="7069782" y="1764060"/>
            <a:ext cx="144486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Available days &amp;</a:t>
            </a:r>
            <a:endParaRPr lang="en-US" sz="1120" dirty="0"/>
          </a:p>
        </p:txBody>
      </p:sp>
      <p:sp>
        <p:nvSpPr>
          <p:cNvPr id="17" name="Text 14"/>
          <p:cNvSpPr/>
          <p:nvPr/>
        </p:nvSpPr>
        <p:spPr>
          <a:xfrm>
            <a:off x="7069782" y="1919957"/>
            <a:ext cx="53484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times</a:t>
            </a:r>
            <a:endParaRPr lang="en-US" sz="1120" dirty="0"/>
          </a:p>
        </p:txBody>
      </p:sp>
      <p:sp>
        <p:nvSpPr>
          <p:cNvPr id="18" name="Text 15"/>
          <p:cNvSpPr/>
          <p:nvPr/>
        </p:nvSpPr>
        <p:spPr>
          <a:xfrm>
            <a:off x="4119488" y="2142679"/>
            <a:ext cx="586599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Rating</a:t>
            </a:r>
            <a:endParaRPr lang="en-US" sz="1120" dirty="0"/>
          </a:p>
        </p:txBody>
      </p:sp>
      <p:sp>
        <p:nvSpPr>
          <p:cNvPr id="19" name="Text 16"/>
          <p:cNvSpPr/>
          <p:nvPr/>
        </p:nvSpPr>
        <p:spPr>
          <a:xfrm>
            <a:off x="5594598" y="2142679"/>
            <a:ext cx="100518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Experience</a:t>
            </a:r>
            <a:endParaRPr lang="en-US" sz="1120" dirty="0"/>
          </a:p>
        </p:txBody>
      </p:sp>
      <p:sp>
        <p:nvSpPr>
          <p:cNvPr id="20" name="Text 17"/>
          <p:cNvSpPr/>
          <p:nvPr/>
        </p:nvSpPr>
        <p:spPr>
          <a:xfrm>
            <a:off x="7069782" y="2142679"/>
            <a:ext cx="87246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Language</a:t>
            </a:r>
            <a:endParaRPr lang="en-US" sz="1120" dirty="0"/>
          </a:p>
        </p:txBody>
      </p:sp>
      <p:sp>
        <p:nvSpPr>
          <p:cNvPr id="21" name="Text 18"/>
          <p:cNvSpPr/>
          <p:nvPr/>
        </p:nvSpPr>
        <p:spPr>
          <a:xfrm>
            <a:off x="548580" y="4123730"/>
            <a:ext cx="9494163" cy="535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68"/>
              </a:lnSpc>
              <a:buNone/>
            </a:pPr>
            <a:r>
              <a:rPr lang="en-US" sz="1510" b="1" spc="-30" kern="0" dirty="0">
                <a:solidFill>
                  <a:srgbClr val="1A1F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Gives the tutor a professional digital presence instead of relying only on personal</a:t>
            </a:r>
            <a:endParaRPr lang="en-US" sz="1510" dirty="0"/>
          </a:p>
          <a:p>
            <a:pPr algn="l" indent="0" marL="0">
              <a:lnSpc>
                <a:spcPts val="2268"/>
              </a:lnSpc>
              <a:buNone/>
            </a:pPr>
            <a:r>
              <a:rPr lang="en-US" sz="1510" b="1" spc="-30" kern="0" dirty="0">
                <a:solidFill>
                  <a:srgbClr val="1A1F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referrals.</a:t>
            </a:r>
            <a:endParaRPr lang="en-US" sz="151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688" y="3995961"/>
            <a:ext cx="8048625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54632"/>
            <a:ext cx="8229600" cy="9525"/>
          </a:xfrm>
          <a:prstGeom prst="rect">
            <a:avLst/>
          </a:prstGeom>
          <a:solidFill>
            <a:srgbClr val="2B5FE0"/>
          </a:solidFill>
          <a:ln/>
        </p:spPr>
      </p:sp>
      <p:sp>
        <p:nvSpPr>
          <p:cNvPr id="4" name="Text 2"/>
          <p:cNvSpPr/>
          <p:nvPr/>
        </p:nvSpPr>
        <p:spPr>
          <a:xfrm>
            <a:off x="7993782" y="225549"/>
            <a:ext cx="95807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238" kern="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08 / 20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48580" y="369540"/>
            <a:ext cx="577438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238" kern="0" dirty="0">
                <a:solidFill>
                  <a:srgbClr val="2B5F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 SPOTLIGHT / SMART BOOKING SYSTEM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580" y="594420"/>
            <a:ext cx="7139843" cy="376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527"/>
              </a:spcBef>
              <a:buNone/>
            </a:pPr>
            <a:r>
              <a:rPr lang="en-US" sz="2340" b="1" spc="-94" kern="0" dirty="0">
                <a:solidFill>
                  <a:srgbClr val="1A1F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structured cycle, not a random request</a:t>
            </a:r>
            <a:endParaRPr lang="en-US" sz="2340" dirty="0"/>
          </a:p>
        </p:txBody>
      </p:sp>
      <p:sp>
        <p:nvSpPr>
          <p:cNvPr id="7" name="Shape 5"/>
          <p:cNvSpPr/>
          <p:nvPr/>
        </p:nvSpPr>
        <p:spPr>
          <a:xfrm>
            <a:off x="2136949" y="2338127"/>
            <a:ext cx="1004887" cy="366712"/>
          </a:xfrm>
          <a:prstGeom prst="rect">
            <a:avLst/>
          </a:prstGeom>
          <a:solidFill>
            <a:srgbClr val="F4F6F9"/>
          </a:solidFill>
          <a:ln w="4763">
            <a:solidFill>
              <a:srgbClr val="D9E0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58604" y="2427015"/>
            <a:ext cx="76150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Pending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3197126" y="2403351"/>
            <a:ext cx="256334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14B8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1440" dirty="0"/>
          </a:p>
        </p:txBody>
      </p:sp>
      <p:sp>
        <p:nvSpPr>
          <p:cNvPr id="10" name="Shape 8"/>
          <p:cNvSpPr/>
          <p:nvPr/>
        </p:nvSpPr>
        <p:spPr>
          <a:xfrm>
            <a:off x="3405969" y="2261964"/>
            <a:ext cx="1033462" cy="519112"/>
          </a:xfrm>
          <a:prstGeom prst="rect">
            <a:avLst/>
          </a:prstGeom>
          <a:solidFill>
            <a:srgbClr val="2B5FE0"/>
          </a:solidFill>
          <a:ln w="4763">
            <a:solidFill>
              <a:srgbClr val="2B5F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05839" y="2351633"/>
            <a:ext cx="103372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5F7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Accepted /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3505673" y="2502471"/>
            <a:ext cx="83405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5F7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Rejected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4495056" y="2403351"/>
            <a:ext cx="256334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14B8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1440" dirty="0"/>
          </a:p>
        </p:txBody>
      </p:sp>
      <p:sp>
        <p:nvSpPr>
          <p:cNvPr id="14" name="Shape 12"/>
          <p:cNvSpPr/>
          <p:nvPr/>
        </p:nvSpPr>
        <p:spPr>
          <a:xfrm>
            <a:off x="4703564" y="2338127"/>
            <a:ext cx="1004887" cy="366712"/>
          </a:xfrm>
          <a:prstGeom prst="rect">
            <a:avLst/>
          </a:prstGeom>
          <a:solidFill>
            <a:srgbClr val="F4F6F9"/>
          </a:solidFill>
          <a:ln w="4763">
            <a:solidFill>
              <a:srgbClr val="D9E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15422" y="2427015"/>
            <a:ext cx="98109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Confirmed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5763741" y="2403351"/>
            <a:ext cx="256334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14B8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1440" dirty="0"/>
          </a:p>
        </p:txBody>
      </p:sp>
      <p:sp>
        <p:nvSpPr>
          <p:cNvPr id="17" name="Shape 15"/>
          <p:cNvSpPr/>
          <p:nvPr/>
        </p:nvSpPr>
        <p:spPr>
          <a:xfrm>
            <a:off x="5972919" y="2338127"/>
            <a:ext cx="1033462" cy="366712"/>
          </a:xfrm>
          <a:prstGeom prst="rect">
            <a:avLst/>
          </a:prstGeom>
          <a:solidFill>
            <a:srgbClr val="F4F6F9"/>
          </a:solidFill>
          <a:ln w="4763">
            <a:solidFill>
              <a:srgbClr val="D9E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72354" y="2427015"/>
            <a:ext cx="103459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Completed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548580" y="3481313"/>
            <a:ext cx="312501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Accept or reject with a stated reason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3291780" y="3481313"/>
            <a:ext cx="280732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Independent reschedule-request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3291780" y="3645843"/>
            <a:ext cx="308563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workflow (student proposes, teacher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3291780" y="3810372"/>
            <a:ext cx="163969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approves/declines)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6034980" y="3481313"/>
            <a:ext cx="274096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Full booking history preserved —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6034980" y="3645843"/>
            <a:ext cx="135760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nothing deleted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6034980" y="3861792"/>
            <a:ext cx="324603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1080" dirty="0">
                <a:solidFill>
                  <a:srgbClr val="14B8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Rating unlocks only after the session is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6034980" y="4026322"/>
            <a:ext cx="95381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1080" dirty="0">
                <a:solidFill>
                  <a:srgbClr val="14B8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completed</a:t>
            </a:r>
            <a:endParaRPr lang="en-US" sz="108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7650" y="3395104"/>
            <a:ext cx="2562225" cy="804862"/>
          </a:xfrm>
          <a:prstGeom prst="rect">
            <a:avLst/>
          </a:prstGeom>
        </p:spPr>
      </p:pic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90850" y="3395104"/>
            <a:ext cx="2562225" cy="804862"/>
          </a:xfrm>
          <a:prstGeom prst="rect">
            <a:avLst/>
          </a:prstGeom>
        </p:spPr>
      </p:pic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34050" y="3395104"/>
            <a:ext cx="2562225" cy="80486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54632"/>
            <a:ext cx="8229600" cy="9525"/>
          </a:xfrm>
          <a:prstGeom prst="rect">
            <a:avLst/>
          </a:prstGeom>
          <a:solidFill>
            <a:srgbClr val="2B5FE0"/>
          </a:solidFill>
          <a:ln/>
        </p:spPr>
      </p:sp>
      <p:sp>
        <p:nvSpPr>
          <p:cNvPr id="4" name="Text 2"/>
          <p:cNvSpPr/>
          <p:nvPr/>
        </p:nvSpPr>
        <p:spPr>
          <a:xfrm>
            <a:off x="7993484" y="225549"/>
            <a:ext cx="95846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238" kern="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09 / 20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48580" y="369540"/>
            <a:ext cx="710879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238" kern="0" dirty="0">
                <a:solidFill>
                  <a:srgbClr val="2B5F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 SPOTLIGHT / WALLET &amp; FINANCIAL MANAGEMENT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580" y="594420"/>
            <a:ext cx="9222232" cy="376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527"/>
              </a:spcBef>
              <a:buNone/>
            </a:pPr>
            <a:r>
              <a:rPr lang="en-US" sz="2340" b="1" spc="-94" kern="0" dirty="0">
                <a:solidFill>
                  <a:srgbClr val="1A1F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More than bookings — a financial layer for the tutor's</a:t>
            </a:r>
            <a:endParaRPr lang="en-US" sz="2340" dirty="0"/>
          </a:p>
        </p:txBody>
      </p:sp>
      <p:sp>
        <p:nvSpPr>
          <p:cNvPr id="7" name="Text 5"/>
          <p:cNvSpPr/>
          <p:nvPr/>
        </p:nvSpPr>
        <p:spPr>
          <a:xfrm>
            <a:off x="548580" y="900485"/>
            <a:ext cx="1588807" cy="376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527"/>
              </a:spcBef>
              <a:buNone/>
            </a:pPr>
            <a:r>
              <a:rPr lang="en-US" sz="2340" b="1" spc="-94" kern="0" dirty="0">
                <a:solidFill>
                  <a:srgbClr val="1A1F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business</a:t>
            </a:r>
            <a:endParaRPr lang="en-US" sz="2340" dirty="0"/>
          </a:p>
        </p:txBody>
      </p:sp>
      <p:sp>
        <p:nvSpPr>
          <p:cNvPr id="8" name="Shape 6"/>
          <p:cNvSpPr/>
          <p:nvPr/>
        </p:nvSpPr>
        <p:spPr>
          <a:xfrm>
            <a:off x="547539" y="1399282"/>
            <a:ext cx="2605087" cy="1947862"/>
          </a:xfrm>
          <a:prstGeom prst="rect">
            <a:avLst/>
          </a:prstGeom>
          <a:solidFill>
            <a:srgbClr val="F4F6F9"/>
          </a:solidFill>
          <a:ln w="4763">
            <a:solidFill>
              <a:srgbClr val="D9E0E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178" y="1506513"/>
            <a:ext cx="365745" cy="36574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178" y="1933203"/>
            <a:ext cx="294014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1080" b="1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Student wallet with balance top-up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736178" y="2385640"/>
            <a:ext cx="2644028" cy="386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Manual bank-transfer top-up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with receipt verification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3269419" y="1399282"/>
            <a:ext cx="2605087" cy="1947862"/>
          </a:xfrm>
          <a:prstGeom prst="rect">
            <a:avLst/>
          </a:prstGeom>
          <a:solidFill>
            <a:srgbClr val="F4F6F9"/>
          </a:solidFill>
          <a:ln w="4763">
            <a:solidFill>
              <a:srgbClr val="D9E0E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8021" y="1506513"/>
            <a:ext cx="365745" cy="36574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58021" y="1933203"/>
            <a:ext cx="2081302" cy="592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Automatic commission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calculation on booking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confirmation</a:t>
            </a:r>
            <a:endParaRPr lang="en-US" sz="1080" dirty="0"/>
          </a:p>
        </p:txBody>
      </p:sp>
      <p:sp>
        <p:nvSpPr>
          <p:cNvPr id="15" name="Text 11"/>
          <p:cNvSpPr/>
          <p:nvPr/>
        </p:nvSpPr>
        <p:spPr>
          <a:xfrm>
            <a:off x="3458021" y="2591321"/>
            <a:ext cx="2348396" cy="386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Teacher earnings credited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automatically</a:t>
            </a:r>
            <a:endParaRPr lang="en-US" sz="1080" dirty="0"/>
          </a:p>
        </p:txBody>
      </p:sp>
      <p:sp>
        <p:nvSpPr>
          <p:cNvPr id="16" name="Text 12"/>
          <p:cNvSpPr/>
          <p:nvPr/>
        </p:nvSpPr>
        <p:spPr>
          <a:xfrm>
            <a:off x="3458021" y="3043758"/>
            <a:ext cx="207656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Full transaction history</a:t>
            </a:r>
            <a:endParaRPr lang="en-US" sz="1080" dirty="0"/>
          </a:p>
        </p:txBody>
      </p:sp>
      <p:sp>
        <p:nvSpPr>
          <p:cNvPr id="17" name="Shape 13"/>
          <p:cNvSpPr/>
          <p:nvPr/>
        </p:nvSpPr>
        <p:spPr>
          <a:xfrm>
            <a:off x="5991337" y="1399282"/>
            <a:ext cx="2605087" cy="1947862"/>
          </a:xfrm>
          <a:prstGeom prst="rect">
            <a:avLst/>
          </a:prstGeom>
          <a:solidFill>
            <a:srgbClr val="F4F6F9"/>
          </a:solidFill>
          <a:ln w="4763">
            <a:solidFill>
              <a:srgbClr val="D9E0E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9939" y="1506513"/>
            <a:ext cx="365745" cy="36574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79939" y="1933203"/>
            <a:ext cx="258830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1080" b="1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Teacher withdrawal requests</a:t>
            </a:r>
            <a:endParaRPr lang="en-US" sz="1080" dirty="0"/>
          </a:p>
        </p:txBody>
      </p:sp>
      <p:sp>
        <p:nvSpPr>
          <p:cNvPr id="20" name="Text 15"/>
          <p:cNvSpPr/>
          <p:nvPr/>
        </p:nvSpPr>
        <p:spPr>
          <a:xfrm>
            <a:off x="6179939" y="2179960"/>
            <a:ext cx="215230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Platform revenue ledger</a:t>
            </a:r>
            <a:endParaRPr lang="en-US" sz="1080" dirty="0"/>
          </a:p>
        </p:txBody>
      </p:sp>
      <p:sp>
        <p:nvSpPr>
          <p:cNvPr id="21" name="Shape 16"/>
          <p:cNvSpPr/>
          <p:nvPr/>
        </p:nvSpPr>
        <p:spPr>
          <a:xfrm>
            <a:off x="547688" y="4271218"/>
            <a:ext cx="8048625" cy="409575"/>
          </a:xfrm>
          <a:prstGeom prst="rect">
            <a:avLst/>
          </a:prstGeom>
          <a:ln/>
        </p:spPr>
      </p:sp>
      <p:sp>
        <p:nvSpPr>
          <p:cNvPr id="22" name="Text 17"/>
          <p:cNvSpPr/>
          <p:nvPr/>
        </p:nvSpPr>
        <p:spPr>
          <a:xfrm>
            <a:off x="548580" y="4436492"/>
            <a:ext cx="197537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BOOKING CONFIRMED</a:t>
            </a:r>
            <a:endParaRPr lang="en-US" sz="1080" dirty="0"/>
          </a:p>
        </p:txBody>
      </p:sp>
      <p:sp>
        <p:nvSpPr>
          <p:cNvPr id="23" name="Text 18"/>
          <p:cNvSpPr/>
          <p:nvPr/>
        </p:nvSpPr>
        <p:spPr>
          <a:xfrm>
            <a:off x="2206972" y="4398020"/>
            <a:ext cx="27626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b="1" dirty="0">
                <a:solidFill>
                  <a:srgbClr val="14B8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1580" dirty="0"/>
          </a:p>
        </p:txBody>
      </p:sp>
      <p:sp>
        <p:nvSpPr>
          <p:cNvPr id="24" name="Text 19"/>
          <p:cNvSpPr/>
          <p:nvPr/>
        </p:nvSpPr>
        <p:spPr>
          <a:xfrm>
            <a:off x="2558355" y="4398020"/>
            <a:ext cx="406598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b="1" dirty="0">
                <a:solidFill>
                  <a:srgbClr val="2B5F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Commission + earnings + ledger</a:t>
            </a:r>
            <a:endParaRPr lang="en-US" sz="158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7688" y="4271218"/>
            <a:ext cx="8048625" cy="4095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54632"/>
            <a:ext cx="8229600" cy="9525"/>
          </a:xfrm>
          <a:prstGeom prst="rect">
            <a:avLst/>
          </a:prstGeom>
          <a:solidFill>
            <a:srgbClr val="2B5FE0"/>
          </a:solidFill>
          <a:ln/>
        </p:spPr>
      </p:sp>
      <p:sp>
        <p:nvSpPr>
          <p:cNvPr id="4" name="Text 2"/>
          <p:cNvSpPr/>
          <p:nvPr/>
        </p:nvSpPr>
        <p:spPr>
          <a:xfrm>
            <a:off x="8030542" y="225549"/>
            <a:ext cx="91028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238" kern="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/ 20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48580" y="369540"/>
            <a:ext cx="646799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238" kern="0" dirty="0">
                <a:solidFill>
                  <a:srgbClr val="2B5F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 SPOTLIGHT / ADMIN &amp; ACADEMIC TRACKING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580" y="594420"/>
            <a:ext cx="8232599" cy="376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527"/>
              </a:spcBef>
              <a:buNone/>
            </a:pPr>
            <a:r>
              <a:rPr lang="en-US" sz="2340" b="1" spc="-94" kern="0" dirty="0">
                <a:solidFill>
                  <a:srgbClr val="1A1F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Control for the platform. Context for the family.</a:t>
            </a:r>
            <a:endParaRPr lang="en-US" sz="2340" dirty="0"/>
          </a:p>
        </p:txBody>
      </p:sp>
      <p:sp>
        <p:nvSpPr>
          <p:cNvPr id="7" name="Shape 5"/>
          <p:cNvSpPr/>
          <p:nvPr/>
        </p:nvSpPr>
        <p:spPr>
          <a:xfrm>
            <a:off x="547650" y="1145232"/>
            <a:ext cx="3933825" cy="1885950"/>
          </a:xfrm>
          <a:prstGeom prst="rect">
            <a:avLst/>
          </a:prstGeom>
          <a:solidFill>
            <a:srgbClr val="F4F6F9"/>
          </a:solidFill>
          <a:ln w="4763">
            <a:solidFill>
              <a:srgbClr val="D9E0E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178" y="1251868"/>
            <a:ext cx="365745" cy="36574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6178" y="1713756"/>
            <a:ext cx="1707892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07"/>
              </a:spcBef>
              <a:buNone/>
            </a:pPr>
            <a:r>
              <a:rPr lang="en-US" sz="1480" b="1" dirty="0">
                <a:solidFill>
                  <a:srgbClr val="1A1F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Admin control</a:t>
            </a:r>
            <a:endParaRPr lang="en-US" sz="1480" dirty="0"/>
          </a:p>
        </p:txBody>
      </p:sp>
      <p:sp>
        <p:nvSpPr>
          <p:cNvPr id="10" name="Shape 7"/>
          <p:cNvSpPr/>
          <p:nvPr/>
        </p:nvSpPr>
        <p:spPr>
          <a:xfrm>
            <a:off x="737034" y="2120615"/>
            <a:ext cx="71438" cy="71438"/>
          </a:xfrm>
          <a:prstGeom prst="rect">
            <a:avLst/>
          </a:prstGeom>
          <a:solidFill>
            <a:srgbClr val="2B5FE0"/>
          </a:solidFill>
          <a:ln/>
        </p:spPr>
      </p:sp>
      <p:sp>
        <p:nvSpPr>
          <p:cNvPr id="11" name="Text 8"/>
          <p:cNvSpPr/>
          <p:nvPr/>
        </p:nvSpPr>
        <p:spPr>
          <a:xfrm>
            <a:off x="900708" y="2069157"/>
            <a:ext cx="394341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Dynamic, configurable permission system</a:t>
            </a:r>
            <a:endParaRPr lang="en-US" sz="1220" dirty="0"/>
          </a:p>
        </p:txBody>
      </p:sp>
      <p:sp>
        <p:nvSpPr>
          <p:cNvPr id="12" name="Shape 9"/>
          <p:cNvSpPr/>
          <p:nvPr/>
        </p:nvSpPr>
        <p:spPr>
          <a:xfrm>
            <a:off x="737034" y="2397658"/>
            <a:ext cx="71438" cy="71438"/>
          </a:xfrm>
          <a:prstGeom prst="rect">
            <a:avLst/>
          </a:prstGeom>
          <a:solidFill>
            <a:srgbClr val="2B5FE0"/>
          </a:solidFill>
          <a:ln/>
        </p:spPr>
      </p:sp>
      <p:sp>
        <p:nvSpPr>
          <p:cNvPr id="13" name="Text 10"/>
          <p:cNvSpPr/>
          <p:nvPr/>
        </p:nvSpPr>
        <p:spPr>
          <a:xfrm>
            <a:off x="900708" y="2346201"/>
            <a:ext cx="374674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Admin controls role access to any page</a:t>
            </a:r>
            <a:endParaRPr lang="en-US" sz="1220" dirty="0"/>
          </a:p>
        </p:txBody>
      </p:sp>
      <p:sp>
        <p:nvSpPr>
          <p:cNvPr id="14" name="Text 11"/>
          <p:cNvSpPr/>
          <p:nvPr/>
        </p:nvSpPr>
        <p:spPr>
          <a:xfrm>
            <a:off x="900708" y="2535808"/>
            <a:ext cx="217465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without touching code</a:t>
            </a:r>
            <a:endParaRPr lang="en-US" sz="1220" dirty="0"/>
          </a:p>
        </p:txBody>
      </p:sp>
      <p:sp>
        <p:nvSpPr>
          <p:cNvPr id="15" name="Shape 12"/>
          <p:cNvSpPr/>
          <p:nvPr/>
        </p:nvSpPr>
        <p:spPr>
          <a:xfrm>
            <a:off x="4662488" y="1145232"/>
            <a:ext cx="3933825" cy="1885950"/>
          </a:xfrm>
          <a:prstGeom prst="rect">
            <a:avLst/>
          </a:prstGeom>
          <a:solidFill>
            <a:srgbClr val="F4F6F9"/>
          </a:solidFill>
          <a:ln w="4763">
            <a:solidFill>
              <a:srgbClr val="D9E0EA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0978" y="1251868"/>
            <a:ext cx="365745" cy="36574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850978" y="1713756"/>
            <a:ext cx="226858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07"/>
              </a:spcBef>
              <a:buNone/>
            </a:pPr>
            <a:r>
              <a:rPr lang="en-US" sz="1480" b="1" dirty="0">
                <a:solidFill>
                  <a:srgbClr val="1A1F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Academic visibility</a:t>
            </a:r>
            <a:endParaRPr lang="en-US" sz="1480" dirty="0"/>
          </a:p>
        </p:txBody>
      </p:sp>
      <p:sp>
        <p:nvSpPr>
          <p:cNvPr id="18" name="Shape 14"/>
          <p:cNvSpPr/>
          <p:nvPr/>
        </p:nvSpPr>
        <p:spPr>
          <a:xfrm>
            <a:off x="4851834" y="2120615"/>
            <a:ext cx="71438" cy="71438"/>
          </a:xfrm>
          <a:prstGeom prst="rect">
            <a:avLst/>
          </a:prstGeom>
          <a:solidFill>
            <a:srgbClr val="2B5FE0"/>
          </a:solidFill>
          <a:ln/>
        </p:spPr>
      </p:sp>
      <p:sp>
        <p:nvSpPr>
          <p:cNvPr id="19" name="Text 15"/>
          <p:cNvSpPr/>
          <p:nvPr/>
        </p:nvSpPr>
        <p:spPr>
          <a:xfrm>
            <a:off x="5015508" y="2069157"/>
            <a:ext cx="332922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Student/parent academic tracking:</a:t>
            </a:r>
            <a:endParaRPr lang="en-US" sz="1220" dirty="0"/>
          </a:p>
        </p:txBody>
      </p:sp>
      <p:sp>
        <p:nvSpPr>
          <p:cNvPr id="20" name="Text 16"/>
          <p:cNvSpPr/>
          <p:nvPr/>
        </p:nvSpPr>
        <p:spPr>
          <a:xfrm>
            <a:off x="5015508" y="2258764"/>
            <a:ext cx="330978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attendance, exam results, progress</a:t>
            </a:r>
            <a:endParaRPr lang="en-US" sz="1220" dirty="0"/>
          </a:p>
        </p:txBody>
      </p:sp>
      <p:sp>
        <p:nvSpPr>
          <p:cNvPr id="21" name="Shape 17"/>
          <p:cNvSpPr/>
          <p:nvPr/>
        </p:nvSpPr>
        <p:spPr>
          <a:xfrm>
            <a:off x="4851834" y="2587265"/>
            <a:ext cx="71438" cy="71438"/>
          </a:xfrm>
          <a:prstGeom prst="rect">
            <a:avLst/>
          </a:prstGeom>
          <a:solidFill>
            <a:srgbClr val="2B5FE0"/>
          </a:solidFill>
          <a:ln/>
        </p:spPr>
      </p:sp>
      <p:sp>
        <p:nvSpPr>
          <p:cNvPr id="22" name="Text 18"/>
          <p:cNvSpPr/>
          <p:nvPr/>
        </p:nvSpPr>
        <p:spPr>
          <a:xfrm>
            <a:off x="5015508" y="2535808"/>
            <a:ext cx="368212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Parent access strictly scoped to linked</a:t>
            </a:r>
            <a:endParaRPr lang="en-US" sz="1220" dirty="0"/>
          </a:p>
        </p:txBody>
      </p:sp>
      <p:sp>
        <p:nvSpPr>
          <p:cNvPr id="23" name="Text 19"/>
          <p:cNvSpPr/>
          <p:nvPr/>
        </p:nvSpPr>
        <p:spPr>
          <a:xfrm>
            <a:off x="5015508" y="2725415"/>
            <a:ext cx="223985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children only, by design</a:t>
            </a:r>
            <a:endParaRPr lang="en-US" sz="12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54632"/>
            <a:ext cx="8229600" cy="9525"/>
          </a:xfrm>
          <a:prstGeom prst="rect">
            <a:avLst/>
          </a:prstGeom>
          <a:solidFill>
            <a:srgbClr val="2B5FE0"/>
          </a:solidFill>
          <a:ln/>
        </p:spPr>
      </p:sp>
      <p:sp>
        <p:nvSpPr>
          <p:cNvPr id="4" name="Text 2"/>
          <p:cNvSpPr/>
          <p:nvPr/>
        </p:nvSpPr>
        <p:spPr>
          <a:xfrm>
            <a:off x="8077126" y="225549"/>
            <a:ext cx="84972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238" kern="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 / 20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48580" y="369540"/>
            <a:ext cx="201368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238" kern="0" dirty="0">
                <a:solidFill>
                  <a:srgbClr val="2B5F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 MARKET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580" y="594420"/>
            <a:ext cx="4199580" cy="376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527"/>
              </a:spcBef>
              <a:buNone/>
            </a:pPr>
            <a:r>
              <a:rPr lang="en-US" sz="2340" b="1" spc="-94" kern="0" dirty="0">
                <a:solidFill>
                  <a:srgbClr val="1A1F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Palestine, why now</a:t>
            </a:r>
            <a:endParaRPr lang="en-US" sz="2340" dirty="0"/>
          </a:p>
        </p:txBody>
      </p:sp>
      <p:sp>
        <p:nvSpPr>
          <p:cNvPr id="7" name="Shape 5"/>
          <p:cNvSpPr/>
          <p:nvPr/>
        </p:nvSpPr>
        <p:spPr>
          <a:xfrm>
            <a:off x="1098166" y="1160673"/>
            <a:ext cx="2009775" cy="2009775"/>
          </a:xfrm>
          <a:prstGeom prst="rect">
            <a:avLst/>
          </a:prstGeom>
          <a:solidFill>
            <a:srgbClr val="F4F6F9"/>
          </a:solidFill>
          <a:ln w="4763">
            <a:solidFill>
              <a:srgbClr val="2B5FE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0180" y="1982688"/>
            <a:ext cx="365745" cy="36574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9537" y="2867620"/>
            <a:ext cx="123609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73" kern="0" dirty="0">
                <a:solidFill>
                  <a:srgbClr val="2B5F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PALESTINE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3932746" y="1134777"/>
            <a:ext cx="71438" cy="71438"/>
          </a:xfrm>
          <a:prstGeom prst="rect">
            <a:avLst/>
          </a:prstGeom>
          <a:solidFill>
            <a:srgbClr val="2B5FE0"/>
          </a:solidFill>
          <a:ln/>
        </p:spPr>
      </p:sp>
      <p:sp>
        <p:nvSpPr>
          <p:cNvPr id="11" name="Text 8"/>
          <p:cNvSpPr/>
          <p:nvPr/>
        </p:nvSpPr>
        <p:spPr>
          <a:xfrm>
            <a:off x="4096420" y="1083320"/>
            <a:ext cx="473647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Primary geographic focus: Gaza Strip &amp; West Bank</a:t>
            </a:r>
            <a:endParaRPr lang="en-US" sz="1220" dirty="0"/>
          </a:p>
        </p:txBody>
      </p:sp>
      <p:sp>
        <p:nvSpPr>
          <p:cNvPr id="12" name="Shape 9"/>
          <p:cNvSpPr/>
          <p:nvPr/>
        </p:nvSpPr>
        <p:spPr>
          <a:xfrm>
            <a:off x="3932746" y="1432359"/>
            <a:ext cx="71438" cy="71438"/>
          </a:xfrm>
          <a:prstGeom prst="rect">
            <a:avLst/>
          </a:prstGeom>
          <a:solidFill>
            <a:srgbClr val="2B5FE0"/>
          </a:solidFill>
          <a:ln/>
        </p:spPr>
      </p:sp>
      <p:sp>
        <p:nvSpPr>
          <p:cNvPr id="13" name="Text 10"/>
          <p:cNvSpPr/>
          <p:nvPr/>
        </p:nvSpPr>
        <p:spPr>
          <a:xfrm>
            <a:off x="4096420" y="1380902"/>
            <a:ext cx="586396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Covers in-person, online, individual, and group private tutoring</a:t>
            </a:r>
            <a:endParaRPr lang="en-US" sz="1220" dirty="0"/>
          </a:p>
        </p:txBody>
      </p:sp>
      <p:sp>
        <p:nvSpPr>
          <p:cNvPr id="14" name="Text 11"/>
          <p:cNvSpPr/>
          <p:nvPr/>
        </p:nvSpPr>
        <p:spPr>
          <a:xfrm>
            <a:off x="4096420" y="1570509"/>
            <a:ext cx="248992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 school-stage students</a:t>
            </a:r>
            <a:endParaRPr lang="en-US" sz="1220" dirty="0"/>
          </a:p>
        </p:txBody>
      </p:sp>
      <p:sp>
        <p:nvSpPr>
          <p:cNvPr id="15" name="Shape 12"/>
          <p:cNvSpPr/>
          <p:nvPr/>
        </p:nvSpPr>
        <p:spPr>
          <a:xfrm>
            <a:off x="3932746" y="1919548"/>
            <a:ext cx="71438" cy="71438"/>
          </a:xfrm>
          <a:prstGeom prst="rect">
            <a:avLst/>
          </a:prstGeom>
          <a:solidFill>
            <a:srgbClr val="2B5FE0"/>
          </a:solidFill>
          <a:ln/>
        </p:spPr>
      </p:sp>
      <p:sp>
        <p:nvSpPr>
          <p:cNvPr id="16" name="Text 13"/>
          <p:cNvSpPr/>
          <p:nvPr/>
        </p:nvSpPr>
        <p:spPr>
          <a:xfrm>
            <a:off x="4096420" y="1868091"/>
            <a:ext cx="549132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Today this market runs on: WhatsApp + Facebook + phone</a:t>
            </a:r>
            <a:endParaRPr lang="en-US" sz="1220" dirty="0"/>
          </a:p>
        </p:txBody>
      </p:sp>
      <p:sp>
        <p:nvSpPr>
          <p:cNvPr id="17" name="Text 14"/>
          <p:cNvSpPr/>
          <p:nvPr/>
        </p:nvSpPr>
        <p:spPr>
          <a:xfrm>
            <a:off x="4096420" y="2057698"/>
            <a:ext cx="512304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calls + manual bank transfers + handwritten schedules</a:t>
            </a:r>
            <a:endParaRPr lang="en-US" sz="1220" dirty="0"/>
          </a:p>
        </p:txBody>
      </p:sp>
      <p:sp>
        <p:nvSpPr>
          <p:cNvPr id="18" name="Shape 15"/>
          <p:cNvSpPr/>
          <p:nvPr/>
        </p:nvSpPr>
        <p:spPr>
          <a:xfrm>
            <a:off x="3932411" y="2365772"/>
            <a:ext cx="4662488" cy="871538"/>
          </a:xfrm>
          <a:prstGeom prst="rect">
            <a:avLst/>
          </a:prstGeom>
          <a:solidFill>
            <a:srgbClr val="F4F6F9"/>
          </a:solidFill>
          <a:ln w="4763">
            <a:solidFill>
              <a:srgbClr val="D9E0E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19488" y="2496220"/>
            <a:ext cx="5030465" cy="605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92"/>
              </a:lnSpc>
              <a:buNone/>
            </a:pPr>
            <a:r>
              <a:rPr lang="en-US" sz="1730" b="1" dirty="0">
                <a:solidFill>
                  <a:srgbClr val="1A1F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Academia unifies all of that into one</a:t>
            </a:r>
            <a:endParaRPr lang="en-US" sz="1730" dirty="0"/>
          </a:p>
          <a:p>
            <a:pPr algn="l" indent="0" marL="0">
              <a:lnSpc>
                <a:spcPts val="2592"/>
              </a:lnSpc>
              <a:buNone/>
            </a:pPr>
            <a:r>
              <a:rPr lang="en-US" sz="1730" b="1" dirty="0">
                <a:solidFill>
                  <a:srgbClr val="1A1F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platform.</a:t>
            </a:r>
            <a:endParaRPr lang="en-US" sz="17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54632"/>
            <a:ext cx="8229600" cy="9525"/>
          </a:xfrm>
          <a:prstGeom prst="rect">
            <a:avLst/>
          </a:prstGeom>
          <a:solidFill>
            <a:srgbClr val="2B5FE0"/>
          </a:solidFill>
          <a:ln/>
        </p:spPr>
      </p:sp>
      <p:sp>
        <p:nvSpPr>
          <p:cNvPr id="4" name="Text 2"/>
          <p:cNvSpPr/>
          <p:nvPr/>
        </p:nvSpPr>
        <p:spPr>
          <a:xfrm>
            <a:off x="8047955" y="225549"/>
            <a:ext cx="88764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238" kern="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 / 20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48580" y="369540"/>
            <a:ext cx="180453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238" kern="0" dirty="0">
                <a:solidFill>
                  <a:srgbClr val="2B5F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 USERS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580" y="594420"/>
            <a:ext cx="4997961" cy="376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527"/>
              </a:spcBef>
              <a:buNone/>
            </a:pPr>
            <a:r>
              <a:rPr lang="en-US" sz="2340" b="1" spc="-94" kern="0" dirty="0">
                <a:solidFill>
                  <a:srgbClr val="1A1F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Built teacher-first, by design</a:t>
            </a:r>
            <a:endParaRPr lang="en-US" sz="2340" dirty="0"/>
          </a:p>
        </p:txBody>
      </p:sp>
      <p:sp>
        <p:nvSpPr>
          <p:cNvPr id="7" name="Shape 5"/>
          <p:cNvSpPr/>
          <p:nvPr/>
        </p:nvSpPr>
        <p:spPr>
          <a:xfrm>
            <a:off x="548580" y="1247626"/>
            <a:ext cx="2590800" cy="1500188"/>
          </a:xfrm>
          <a:prstGeom prst="rect">
            <a:avLst/>
          </a:prstGeom>
          <a:solidFill>
            <a:srgbClr val="F4F6F9"/>
          </a:solidFill>
          <a:ln w="14288">
            <a:solidFill>
              <a:srgbClr val="D9E0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5703" y="1425253"/>
            <a:ext cx="105800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94" kern="0" dirty="0">
                <a:solidFill>
                  <a:srgbClr val="2B5F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PRIMARY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745703" y="1686148"/>
            <a:ext cx="1258543" cy="309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910" b="1" dirty="0">
                <a:solidFill>
                  <a:srgbClr val="1A1F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Teacher</a:t>
            </a:r>
            <a:endParaRPr lang="en-US" sz="1910" dirty="0"/>
          </a:p>
        </p:txBody>
      </p:sp>
      <p:sp>
        <p:nvSpPr>
          <p:cNvPr id="10" name="Text 8"/>
          <p:cNvSpPr/>
          <p:nvPr/>
        </p:nvSpPr>
        <p:spPr>
          <a:xfrm>
            <a:off x="745703" y="2059856"/>
            <a:ext cx="286314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12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Get Students + Manage Teaching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745703" y="2229966"/>
            <a:ext cx="253384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12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+ Manage Business + Manage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745703" y="2400077"/>
            <a:ext cx="63042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12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Money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3276563" y="1247626"/>
            <a:ext cx="2590800" cy="1500188"/>
          </a:xfrm>
          <a:prstGeom prst="rect">
            <a:avLst/>
          </a:prstGeom>
          <a:solidFill>
            <a:srgbClr val="F4F6F9"/>
          </a:solidFill>
          <a:ln w="4763">
            <a:solidFill>
              <a:srgbClr val="D9E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64123" y="1415728"/>
            <a:ext cx="142493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94" kern="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SECONDARY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3464123" y="1676623"/>
            <a:ext cx="1301688" cy="309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910" b="1" dirty="0">
                <a:solidFill>
                  <a:srgbClr val="1A1F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Student</a:t>
            </a:r>
            <a:endParaRPr lang="en-US" sz="1910" dirty="0"/>
          </a:p>
        </p:txBody>
      </p:sp>
      <p:sp>
        <p:nvSpPr>
          <p:cNvPr id="16" name="Text 14"/>
          <p:cNvSpPr/>
          <p:nvPr/>
        </p:nvSpPr>
        <p:spPr>
          <a:xfrm>
            <a:off x="3464123" y="2050331"/>
            <a:ext cx="279329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12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Discovers, compares, and books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6004582" y="1247626"/>
            <a:ext cx="2590800" cy="1500188"/>
          </a:xfrm>
          <a:prstGeom prst="rect">
            <a:avLst/>
          </a:prstGeom>
          <a:solidFill>
            <a:srgbClr val="F4F6F9"/>
          </a:solidFill>
          <a:ln w="4763">
            <a:solidFill>
              <a:srgbClr val="D9E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2143" y="1415728"/>
            <a:ext cx="150242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94" kern="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SUPPORTING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6192143" y="1676623"/>
            <a:ext cx="1060423" cy="309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910" b="1" dirty="0">
                <a:solidFill>
                  <a:srgbClr val="1A1F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Parent</a:t>
            </a:r>
            <a:endParaRPr lang="en-US" sz="1910" dirty="0"/>
          </a:p>
        </p:txBody>
      </p:sp>
      <p:sp>
        <p:nvSpPr>
          <p:cNvPr id="20" name="Text 18"/>
          <p:cNvSpPr/>
          <p:nvPr/>
        </p:nvSpPr>
        <p:spPr>
          <a:xfrm>
            <a:off x="6192143" y="2050331"/>
            <a:ext cx="220561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12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Monitors linked children's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6192143" y="2220441"/>
            <a:ext cx="158097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12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academic activity</a:t>
            </a:r>
            <a:endParaRPr lang="en-US" sz="11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54632"/>
            <a:ext cx="8229600" cy="9525"/>
          </a:xfrm>
          <a:prstGeom prst="rect">
            <a:avLst/>
          </a:prstGeom>
          <a:solidFill>
            <a:srgbClr val="2B5FE0"/>
          </a:solidFill>
          <a:ln/>
        </p:spPr>
      </p:sp>
      <p:sp>
        <p:nvSpPr>
          <p:cNvPr id="4" name="Text 2"/>
          <p:cNvSpPr/>
          <p:nvPr/>
        </p:nvSpPr>
        <p:spPr>
          <a:xfrm>
            <a:off x="8044383" y="225549"/>
            <a:ext cx="89229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238" kern="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13 / 20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48580" y="369540"/>
            <a:ext cx="211719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238" kern="0" dirty="0">
                <a:solidFill>
                  <a:srgbClr val="2B5F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BUSINESS MODEL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580" y="594420"/>
            <a:ext cx="6587468" cy="376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527"/>
              </a:spcBef>
              <a:buNone/>
            </a:pPr>
            <a:r>
              <a:rPr lang="en-US" sz="2340" b="1" spc="-94" kern="0" dirty="0">
                <a:solidFill>
                  <a:srgbClr val="1A1F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Platform + SaaS hybrid revenue model</a:t>
            </a:r>
            <a:endParaRPr lang="en-US" sz="2340" dirty="0"/>
          </a:p>
        </p:txBody>
      </p:sp>
      <p:sp>
        <p:nvSpPr>
          <p:cNvPr id="7" name="Shape 5"/>
          <p:cNvSpPr/>
          <p:nvPr/>
        </p:nvSpPr>
        <p:spPr>
          <a:xfrm>
            <a:off x="548580" y="1143781"/>
            <a:ext cx="2590800" cy="2019300"/>
          </a:xfrm>
          <a:prstGeom prst="rect">
            <a:avLst/>
          </a:prstGeom>
          <a:solidFill>
            <a:srgbClr val="F4F6F9"/>
          </a:solidFill>
          <a:ln w="4763">
            <a:solidFill>
              <a:srgbClr val="D9E0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6178" y="1261393"/>
            <a:ext cx="210568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73" kern="0" dirty="0">
                <a:solidFill>
                  <a:srgbClr val="2B5F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PRIMARY REVENUE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736178" y="1536576"/>
            <a:ext cx="2480154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440" b="1" dirty="0">
                <a:solidFill>
                  <a:srgbClr val="1A1F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Commission on every</a:t>
            </a:r>
            <a:endParaRPr lang="en-US" sz="1440" dirty="0"/>
          </a:p>
        </p:txBody>
      </p:sp>
      <p:sp>
        <p:nvSpPr>
          <p:cNvPr id="10" name="Text 8"/>
          <p:cNvSpPr/>
          <p:nvPr/>
        </p:nvSpPr>
        <p:spPr>
          <a:xfrm>
            <a:off x="736178" y="1728564"/>
            <a:ext cx="2284355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440" b="1" dirty="0">
                <a:solidFill>
                  <a:srgbClr val="1A1F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completed booking</a:t>
            </a:r>
            <a:endParaRPr lang="en-US" sz="1440" dirty="0"/>
          </a:p>
        </p:txBody>
      </p:sp>
      <p:sp>
        <p:nvSpPr>
          <p:cNvPr id="11" name="Text 9"/>
          <p:cNvSpPr/>
          <p:nvPr/>
        </p:nvSpPr>
        <p:spPr>
          <a:xfrm>
            <a:off x="736178" y="2037680"/>
            <a:ext cx="222321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08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Student pays → Academia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736178" y="2202210"/>
            <a:ext cx="279126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08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commission deducted → teacher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736178" y="2366739"/>
            <a:ext cx="181333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08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receives net earnings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736178" y="2653159"/>
            <a:ext cx="2682433" cy="386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Commission rate configurable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by admin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3276563" y="1143781"/>
            <a:ext cx="2590800" cy="2019300"/>
          </a:xfrm>
          <a:prstGeom prst="rect">
            <a:avLst/>
          </a:prstGeom>
          <a:solidFill>
            <a:srgbClr val="F4F6F9"/>
          </a:solidFill>
          <a:ln w="4763">
            <a:solidFill>
              <a:srgbClr val="D9E0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64123" y="1261393"/>
            <a:ext cx="196666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73" kern="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FUTURE REVENUE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3464123" y="1536576"/>
            <a:ext cx="2187811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440" b="1" dirty="0">
                <a:solidFill>
                  <a:srgbClr val="1A1F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Paid teacher plans</a:t>
            </a:r>
            <a:endParaRPr lang="en-US" sz="1440" dirty="0"/>
          </a:p>
        </p:txBody>
      </p:sp>
      <p:sp>
        <p:nvSpPr>
          <p:cNvPr id="18" name="Text 16"/>
          <p:cNvSpPr/>
          <p:nvPr/>
        </p:nvSpPr>
        <p:spPr>
          <a:xfrm>
            <a:off x="3464123" y="1845692"/>
            <a:ext cx="246622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08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Professional accounts, higher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3464123" y="2010221"/>
            <a:ext cx="256644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08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search ranking, analytics tools,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3464123" y="2174751"/>
            <a:ext cx="290967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08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advanced reports, marketing tools,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3464123" y="2339280"/>
            <a:ext cx="208197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08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advanced group/session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3464123" y="2503810"/>
            <a:ext cx="114187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08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management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6004582" y="1143781"/>
            <a:ext cx="2590800" cy="2019300"/>
          </a:xfrm>
          <a:prstGeom prst="rect">
            <a:avLst/>
          </a:prstGeom>
          <a:solidFill>
            <a:srgbClr val="F4F6F9"/>
          </a:solidFill>
          <a:ln w="4763">
            <a:solidFill>
              <a:srgbClr val="D9E0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92143" y="1261393"/>
            <a:ext cx="131648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73" kern="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EXPANSION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6192143" y="1536576"/>
            <a:ext cx="2037576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440" b="1" dirty="0">
                <a:solidFill>
                  <a:srgbClr val="1A1F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Additional digital</a:t>
            </a:r>
            <a:endParaRPr lang="en-US" sz="1440" dirty="0"/>
          </a:p>
        </p:txBody>
      </p:sp>
      <p:sp>
        <p:nvSpPr>
          <p:cNvPr id="26" name="Text 24"/>
          <p:cNvSpPr/>
          <p:nvPr/>
        </p:nvSpPr>
        <p:spPr>
          <a:xfrm>
            <a:off x="6192143" y="1728564"/>
            <a:ext cx="1007507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440" b="1" dirty="0">
                <a:solidFill>
                  <a:srgbClr val="1A1F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services</a:t>
            </a:r>
            <a:endParaRPr lang="en-US" sz="1440" dirty="0"/>
          </a:p>
        </p:txBody>
      </p:sp>
      <p:sp>
        <p:nvSpPr>
          <p:cNvPr id="27" name="Text 25"/>
          <p:cNvSpPr/>
          <p:nvPr/>
        </p:nvSpPr>
        <p:spPr>
          <a:xfrm>
            <a:off x="6192143" y="2037680"/>
            <a:ext cx="273689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08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More services around the tutor's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6192143" y="2202210"/>
            <a:ext cx="261123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08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business, without changing the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6192143" y="2366739"/>
            <a:ext cx="128843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08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platform's core</a:t>
            </a:r>
            <a:endParaRPr lang="en-US" sz="10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54632"/>
            <a:ext cx="8229600" cy="9525"/>
          </a:xfrm>
          <a:prstGeom prst="rect">
            <a:avLst/>
          </a:prstGeom>
          <a:solidFill>
            <a:srgbClr val="2B5FE0"/>
          </a:solidFill>
          <a:ln/>
        </p:spPr>
      </p:sp>
      <p:sp>
        <p:nvSpPr>
          <p:cNvPr id="4" name="Text 2"/>
          <p:cNvSpPr/>
          <p:nvPr/>
        </p:nvSpPr>
        <p:spPr>
          <a:xfrm>
            <a:off x="8037909" y="225549"/>
            <a:ext cx="90070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238" kern="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14 / 20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6" name="Text 4"/>
          <p:cNvSpPr/>
          <p:nvPr/>
        </p:nvSpPr>
        <p:spPr>
          <a:xfrm>
            <a:off x="548580" y="369540"/>
            <a:ext cx="316593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238" kern="0" dirty="0">
                <a:solidFill>
                  <a:srgbClr val="2B5F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COMPETITIVE LANDSCAPE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548580" y="594420"/>
            <a:ext cx="9046845" cy="376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527"/>
              </a:spcBef>
              <a:buNone/>
            </a:pPr>
            <a:r>
              <a:rPr lang="en-US" sz="2340" b="1" spc="-94" kern="0" dirty="0">
                <a:solidFill>
                  <a:srgbClr val="1A1F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Most competitors solve only one piece of the puzzle</a:t>
            </a:r>
            <a:endParaRPr lang="en-US" sz="234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3515"/>
          <a:ext cx="8229600" cy="914400"/>
        </p:xfrm>
        <a:graphic>
          <a:graphicData uri="http://schemas.openxmlformats.org/drawingml/2006/table">
            <a:tbl>
              <a:tblPr/>
              <a:tblGrid>
                <a:gridCol w="1069777"/>
                <a:gridCol w="1152079"/>
                <a:gridCol w="2057400"/>
                <a:gridCol w="1645890"/>
                <a:gridCol w="230445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66"/>
                        </a:lnSpc>
                        <a:buNone/>
                      </a:pPr>
                      <a:r>
                        <a:rPr lang="en-US" sz="1080" b="1" dirty="0">
                          <a:solidFill>
                            <a:srgbClr val="F5F7F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Platform</a:t>
                      </a:r>
                      <a:endParaRPr lang="en-US" sz="108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6202" marR="96202" marT="81915" marB="8191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66"/>
                        </a:lnSpc>
                        <a:buNone/>
                      </a:pPr>
                      <a:r>
                        <a:rPr lang="en-US" sz="1080" b="1" dirty="0">
                          <a:solidFill>
                            <a:srgbClr val="F5F7F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Scope</a:t>
                      </a:r>
                      <a:endParaRPr lang="en-US" sz="108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6202" marR="96202" marT="81915" marB="8191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66"/>
                        </a:lnSpc>
                        <a:buNone/>
                      </a:pPr>
                      <a:r>
                        <a:rPr lang="en-US" sz="1080" b="1" dirty="0">
                          <a:solidFill>
                            <a:srgbClr val="F5F7F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Model &amp; Focus</a:t>
                      </a:r>
                      <a:endParaRPr lang="en-US" sz="108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6202" marR="96202" marT="81915" marB="8191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66"/>
                        </a:lnSpc>
                        <a:buNone/>
                      </a:pPr>
                      <a:r>
                        <a:rPr lang="en-US" sz="1080" b="1" dirty="0">
                          <a:solidFill>
                            <a:srgbClr val="F5F7F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Strength</a:t>
                      </a:r>
                      <a:endParaRPr lang="en-US" sz="108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6202" marR="96202" marT="81915" marB="8191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66"/>
                        </a:lnSpc>
                        <a:buNone/>
                      </a:pPr>
                      <a:r>
                        <a:rPr lang="en-US" sz="1080" b="1" dirty="0">
                          <a:solidFill>
                            <a:srgbClr val="F5F7F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Gap vs </a:t>
                      </a:r>
                      <a:pPr algn="l" indent="0" marL="0">
                        <a:lnSpc>
                          <a:spcPts val="1166"/>
                        </a:lnSpc>
                        <a:buNone/>
                      </a:pPr>
                      <a:r>
                        <a:rPr lang="en-US" sz="1080" b="1" dirty="0">
                          <a:solidFill>
                            <a:srgbClr val="14B8A6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Academia</a:t>
                      </a:r>
                      <a:endParaRPr lang="en-US" sz="108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6202" marR="96202" marT="81915" marB="8191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66"/>
                        </a:lnSpc>
                        <a:buNone/>
                      </a:pPr>
                      <a:r>
                        <a:rPr lang="en-US" sz="1080" b="1" dirty="0">
                          <a:solidFill>
                            <a:srgbClr val="1A1F2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Orcas</a:t>
                      </a:r>
                      <a:endParaRPr lang="en-US" sz="108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6202" marR="96202" marT="74200" marB="74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66"/>
                        </a:lnSpc>
                        <a:buNone/>
                      </a:pPr>
                      <a:r>
                        <a:rPr lang="en-US" sz="1080" dirty="0">
                          <a:solidFill>
                            <a:srgbClr val="1A1F2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Egypt, UAE</a:t>
                      </a:r>
                      <a:endParaRPr lang="en-US" sz="108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6202" marR="96202" marT="74200" marB="74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66"/>
                        </a:lnSpc>
                        <a:buNone/>
                      </a:pPr>
                      <a:r>
                        <a:rPr lang="en-US" sz="1080" dirty="0">
                          <a:solidFill>
                            <a:srgbClr val="1A1F2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Connects students with tutors; tracks parents</a:t>
                      </a:r>
                      <a:endParaRPr lang="en-US" sz="108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6202" marR="96202" marT="74200" marB="74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66"/>
                        </a:lnSpc>
                        <a:buNone/>
                      </a:pPr>
                      <a:r>
                        <a:rPr lang="en-US" sz="1080" dirty="0">
                          <a:solidFill>
                            <a:srgbClr val="1A1F2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Strong brand, guardian monitoring</a:t>
                      </a:r>
                      <a:endParaRPr lang="en-US" sz="108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6202" marR="96202" marT="74200" marB="74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66"/>
                        </a:lnSpc>
                        <a:buNone/>
                      </a:pPr>
                      <a:r>
                        <a:rPr lang="en-US" sz="1080" dirty="0">
                          <a:solidFill>
                            <a:srgbClr val="6B7280"/>
                          </a:solidFill>
                          <a:highlight>
                            <a:srgbClr val="E7EAF0"/>
                          </a:highlight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Focused on students/parents, not tutor business-management tools</a:t>
                      </a:r>
                      <a:endParaRPr lang="en-US" sz="108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6202" marR="96202" marT="74200" marB="74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7EA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66"/>
                        </a:lnSpc>
                        <a:buNone/>
                      </a:pPr>
                      <a:r>
                        <a:rPr lang="en-US" sz="1080" b="1" dirty="0">
                          <a:solidFill>
                            <a:srgbClr val="1A1F2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Hissaa (حصة)</a:t>
                      </a:r>
                      <a:endParaRPr lang="en-US" sz="108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6202" marR="96202" marT="74200" marB="74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66"/>
                        </a:lnSpc>
                        <a:buNone/>
                      </a:pPr>
                      <a:r>
                        <a:rPr lang="en-US" sz="1080" dirty="0">
                          <a:solidFill>
                            <a:srgbClr val="1A1F2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Saudi Arabia &amp; Gulf</a:t>
                      </a:r>
                      <a:endParaRPr lang="en-US" sz="108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6202" marR="96202" marT="74200" marB="74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66"/>
                        </a:lnSpc>
                        <a:buNone/>
                      </a:pPr>
                      <a:r>
                        <a:rPr lang="en-US" sz="1080" dirty="0">
                          <a:solidFill>
                            <a:srgbClr val="1A1F2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Marketplace for booking private sessions</a:t>
                      </a:r>
                      <a:endParaRPr lang="en-US" sz="108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6202" marR="96202" marT="74200" marB="74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66"/>
                        </a:lnSpc>
                        <a:buNone/>
                      </a:pPr>
                      <a:r>
                        <a:rPr lang="en-US" sz="1080" dirty="0">
                          <a:solidFill>
                            <a:srgbClr val="1A1F2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Simple interface, wide reach</a:t>
                      </a:r>
                      <a:endParaRPr lang="en-US" sz="108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6202" marR="96202" marT="74200" marB="74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66"/>
                        </a:lnSpc>
                        <a:buNone/>
                      </a:pPr>
                      <a:r>
                        <a:rPr lang="en-US" sz="1080" dirty="0">
                          <a:solidFill>
                            <a:srgbClr val="6B7280"/>
                          </a:solidFill>
                          <a:highlight>
                            <a:srgbClr val="E7EAF0"/>
                          </a:highlight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Locked to Gulf market workflows and payment methods</a:t>
                      </a:r>
                      <a:endParaRPr lang="en-US" sz="108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6202" marR="96202" marT="74200" marB="74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7EA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66"/>
                        </a:lnSpc>
                        <a:buNone/>
                      </a:pPr>
                      <a:r>
                        <a:rPr lang="en-US" sz="1080" b="1" dirty="0">
                          <a:solidFill>
                            <a:srgbClr val="1A1F2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MyPrivateTutor</a:t>
                      </a:r>
                      <a:endParaRPr lang="en-US" sz="108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6202" marR="96202" marT="74200" marB="74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66"/>
                        </a:lnSpc>
                        <a:buNone/>
                      </a:pPr>
                      <a:r>
                        <a:rPr lang="en-US" sz="1080" dirty="0">
                          <a:solidFill>
                            <a:srgbClr val="1A1F2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Middle East &amp; MENA</a:t>
                      </a:r>
                      <a:endParaRPr lang="en-US" sz="108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6202" marR="96202" marT="74200" marB="74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66"/>
                        </a:lnSpc>
                        <a:buNone/>
                      </a:pPr>
                      <a:r>
                        <a:rPr lang="en-US" sz="1080" dirty="0">
                          <a:solidFill>
                            <a:srgbClr val="1A1F2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Directory of private tutors and centers</a:t>
                      </a:r>
                      <a:endParaRPr lang="en-US" sz="108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6202" marR="96202" marT="74200" marB="74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66"/>
                        </a:lnSpc>
                        <a:buNone/>
                      </a:pPr>
                      <a:r>
                        <a:rPr lang="en-US" sz="1080" dirty="0">
                          <a:solidFill>
                            <a:srgbClr val="1A1F2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Very large database, high traffic</a:t>
                      </a:r>
                      <a:endParaRPr lang="en-US" sz="108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6202" marR="96202" marT="74200" marB="74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66"/>
                        </a:lnSpc>
                        <a:buNone/>
                      </a:pPr>
                      <a:r>
                        <a:rPr lang="en-US" sz="1080" dirty="0">
                          <a:solidFill>
                            <a:srgbClr val="6B7280"/>
                          </a:solidFill>
                          <a:highlight>
                            <a:srgbClr val="E7EAF0"/>
                          </a:highlight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Just a listing/directory — no scheduling or wallet tools</a:t>
                      </a:r>
                      <a:endParaRPr lang="en-US" sz="108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6202" marR="96202" marT="74200" marB="74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7EA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66"/>
                        </a:lnSpc>
                        <a:buNone/>
                      </a:pPr>
                      <a:r>
                        <a:rPr lang="en-US" sz="1080" b="1" dirty="0">
                          <a:solidFill>
                            <a:srgbClr val="1A1F2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Darisni (درسني)</a:t>
                      </a:r>
                      <a:endParaRPr lang="en-US" sz="108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6202" marR="96202" marT="74200" marB="74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66"/>
                        </a:lnSpc>
                        <a:buNone/>
                      </a:pPr>
                      <a:r>
                        <a:rPr lang="en-US" sz="1080" dirty="0">
                          <a:solidFill>
                            <a:srgbClr val="1A1F2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Kuwait &amp; Gulf</a:t>
                      </a:r>
                      <a:endParaRPr lang="en-US" sz="108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6202" marR="96202" marT="74200" marB="74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66"/>
                        </a:lnSpc>
                        <a:buNone/>
                      </a:pPr>
                      <a:r>
                        <a:rPr lang="en-US" sz="1080" dirty="0">
                          <a:solidFill>
                            <a:srgbClr val="1A1F2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Instant private-lesson booking app</a:t>
                      </a:r>
                      <a:endParaRPr lang="en-US" sz="108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6202" marR="96202" marT="74200" marB="74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66"/>
                        </a:lnSpc>
                        <a:buNone/>
                      </a:pPr>
                      <a:r>
                        <a:rPr lang="en-US" sz="1080" dirty="0">
                          <a:solidFill>
                            <a:srgbClr val="1A1F2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Fast, focused on video booking</a:t>
                      </a:r>
                      <a:endParaRPr lang="en-US" sz="108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6202" marR="96202" marT="74200" marB="74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66"/>
                        </a:lnSpc>
                        <a:buNone/>
                      </a:pPr>
                      <a:r>
                        <a:rPr lang="en-US" sz="1080" dirty="0">
                          <a:solidFill>
                            <a:srgbClr val="6B7280"/>
                          </a:solidFill>
                          <a:highlight>
                            <a:srgbClr val="E7EAF0"/>
                          </a:highlight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Online-only; doesn't serve in-person or group sessions</a:t>
                      </a:r>
                      <a:endParaRPr lang="en-US" sz="108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6202" marR="96202" marT="74200" marB="74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7EA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66"/>
                        </a:lnSpc>
                        <a:buNone/>
                      </a:pPr>
                      <a:r>
                        <a:rPr lang="en-US" sz="1080" b="1" dirty="0">
                          <a:solidFill>
                            <a:srgbClr val="1A1F2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TutorBird / Teachworks</a:t>
                      </a:r>
                      <a:endParaRPr lang="en-US" sz="108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6202" marR="96202" marT="74200" marB="74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66"/>
                        </a:lnSpc>
                        <a:buNone/>
                      </a:pPr>
                      <a:r>
                        <a:rPr lang="en-US" sz="1080" dirty="0">
                          <a:solidFill>
                            <a:srgbClr val="1A1F2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Global (US/Europe)</a:t>
                      </a:r>
                      <a:endParaRPr lang="en-US" sz="108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6202" marR="96202" marT="74200" marB="74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66"/>
                        </a:lnSpc>
                        <a:buNone/>
                      </a:pPr>
                      <a:r>
                        <a:rPr lang="en-US" sz="1080" dirty="0">
                          <a:solidFill>
                            <a:srgbClr val="1A1F2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SaaS business-management software</a:t>
                      </a:r>
                      <a:endParaRPr lang="en-US" sz="108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6202" marR="96202" marT="74200" marB="74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66"/>
                        </a:lnSpc>
                        <a:buNone/>
                      </a:pPr>
                      <a:r>
                        <a:rPr lang="en-US" sz="1080" dirty="0">
                          <a:solidFill>
                            <a:srgbClr val="1A1F2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Mature scheduling, invoicing, reports</a:t>
                      </a:r>
                      <a:endParaRPr lang="en-US" sz="108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6202" marR="96202" marT="74200" marB="74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66"/>
                        </a:lnSpc>
                        <a:buNone/>
                      </a:pPr>
                      <a:r>
                        <a:rPr lang="en-US" sz="1080" dirty="0">
                          <a:solidFill>
                            <a:srgbClr val="6B7280"/>
                          </a:solidFill>
                          <a:highlight>
                            <a:srgbClr val="E7EAF0"/>
                          </a:highlight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No marketplace, no localization, no local payment support</a:t>
                      </a:r>
                      <a:endParaRPr lang="en-US" sz="108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6202" marR="96202" marT="74200" marB="74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7EA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54632"/>
            <a:ext cx="8229600" cy="9525"/>
          </a:xfrm>
          <a:prstGeom prst="rect">
            <a:avLst/>
          </a:prstGeom>
          <a:solidFill>
            <a:srgbClr val="2B5FE0"/>
          </a:solidFill>
          <a:ln/>
        </p:spPr>
      </p:sp>
      <p:sp>
        <p:nvSpPr>
          <p:cNvPr id="4" name="Text 2"/>
          <p:cNvSpPr/>
          <p:nvPr/>
        </p:nvSpPr>
        <p:spPr>
          <a:xfrm>
            <a:off x="8041928" y="225549"/>
            <a:ext cx="89548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238" kern="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/ 20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48580" y="369540"/>
            <a:ext cx="392590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238" kern="0" dirty="0">
                <a:solidFill>
                  <a:srgbClr val="2B5F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ACADEMIA'S COMPETITIVE EDGE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580" y="594420"/>
            <a:ext cx="7411775" cy="376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527"/>
              </a:spcBef>
              <a:buNone/>
            </a:pPr>
            <a:r>
              <a:rPr lang="en-US" sz="2340" b="1" spc="-94" kern="0" dirty="0">
                <a:solidFill>
                  <a:srgbClr val="1A1F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no existing player looks like Academia</a:t>
            </a:r>
            <a:endParaRPr lang="en-US" sz="2340" dirty="0"/>
          </a:p>
        </p:txBody>
      </p:sp>
      <p:sp>
        <p:nvSpPr>
          <p:cNvPr id="7" name="Shape 5"/>
          <p:cNvSpPr/>
          <p:nvPr/>
        </p:nvSpPr>
        <p:spPr>
          <a:xfrm>
            <a:off x="548580" y="1093291"/>
            <a:ext cx="2590800" cy="1905000"/>
          </a:xfrm>
          <a:prstGeom prst="rect">
            <a:avLst/>
          </a:prstGeom>
          <a:solidFill>
            <a:srgbClr val="F4F6F9"/>
          </a:solidFill>
          <a:ln w="4763">
            <a:solidFill>
              <a:srgbClr val="D9E0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6178" y="1148060"/>
            <a:ext cx="580214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2B5F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2880" dirty="0"/>
          </a:p>
        </p:txBody>
      </p:sp>
      <p:sp>
        <p:nvSpPr>
          <p:cNvPr id="9" name="Text 7"/>
          <p:cNvSpPr/>
          <p:nvPr/>
        </p:nvSpPr>
        <p:spPr>
          <a:xfrm>
            <a:off x="736178" y="1662336"/>
            <a:ext cx="2530264" cy="496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6"/>
              </a:lnSpc>
              <a:buNone/>
            </a:pPr>
            <a:r>
              <a:rPr lang="en-US" sz="1400" b="1" dirty="0">
                <a:solidFill>
                  <a:srgbClr val="1A1F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Marketplace + SaaS in</a:t>
            </a:r>
            <a:endParaRPr lang="en-US" sz="1400" dirty="0"/>
          </a:p>
          <a:p>
            <a:pPr algn="l" indent="0" marL="0">
              <a:lnSpc>
                <a:spcPts val="2106"/>
              </a:lnSpc>
              <a:buNone/>
            </a:pPr>
            <a:r>
              <a:rPr lang="en-US" sz="1400" b="1" dirty="0">
                <a:solidFill>
                  <a:srgbClr val="1A1F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6178" y="2246114"/>
            <a:ext cx="235894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48"/>
              </a:spcBef>
              <a:buNone/>
            </a:pPr>
            <a:r>
              <a:rPr lang="en-US" sz="108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Other platforms are either a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736178" y="2403797"/>
            <a:ext cx="263880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48"/>
              </a:spcBef>
              <a:buNone/>
            </a:pPr>
            <a:r>
              <a:rPr lang="en-US" sz="108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booking marketplace ONLY or a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736178" y="2561481"/>
            <a:ext cx="209881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48"/>
              </a:spcBef>
              <a:buNone/>
            </a:pPr>
            <a:r>
              <a:rPr lang="en-US" sz="108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management SaaS ONLY.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736178" y="2719164"/>
            <a:ext cx="221180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48"/>
              </a:spcBef>
              <a:buNone/>
            </a:pPr>
            <a:r>
              <a:rPr lang="en-US" sz="108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Academia combines both.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3276563" y="1093291"/>
            <a:ext cx="2590800" cy="1905000"/>
          </a:xfrm>
          <a:prstGeom prst="rect">
            <a:avLst/>
          </a:prstGeom>
          <a:solidFill>
            <a:srgbClr val="F4F6F9"/>
          </a:solidFill>
          <a:ln w="4763">
            <a:solidFill>
              <a:srgbClr val="D9E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64123" y="1148060"/>
            <a:ext cx="647737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2B5F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2880" dirty="0"/>
          </a:p>
        </p:txBody>
      </p:sp>
      <p:sp>
        <p:nvSpPr>
          <p:cNvPr id="16" name="Text 14"/>
          <p:cNvSpPr/>
          <p:nvPr/>
        </p:nvSpPr>
        <p:spPr>
          <a:xfrm>
            <a:off x="3464123" y="1662336"/>
            <a:ext cx="2006813" cy="496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6"/>
              </a:lnSpc>
              <a:buNone/>
            </a:pPr>
            <a:r>
              <a:rPr lang="en-US" sz="1400" b="1" dirty="0">
                <a:solidFill>
                  <a:srgbClr val="1A1F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Built for the local</a:t>
            </a:r>
            <a:endParaRPr lang="en-US" sz="1400" dirty="0"/>
          </a:p>
          <a:p>
            <a:pPr algn="l" indent="0" marL="0">
              <a:lnSpc>
                <a:spcPts val="2106"/>
              </a:lnSpc>
              <a:buNone/>
            </a:pPr>
            <a:r>
              <a:rPr lang="en-US" sz="1400" b="1" dirty="0">
                <a:solidFill>
                  <a:srgbClr val="1A1F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tutoring reality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64123" y="2246114"/>
            <a:ext cx="263387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48"/>
              </a:spcBef>
              <a:buNone/>
            </a:pPr>
            <a:r>
              <a:rPr lang="en-US" sz="108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In-person tutoring, home visits,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3464123" y="2403797"/>
            <a:ext cx="244145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48"/>
              </a:spcBef>
              <a:buNone/>
            </a:pPr>
            <a:r>
              <a:rPr lang="en-US" sz="108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centers, individual and group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3464123" y="2561481"/>
            <a:ext cx="264190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48"/>
              </a:spcBef>
              <a:buNone/>
            </a:pPr>
            <a:r>
              <a:rPr lang="en-US" sz="108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lessons, manual bank transfer +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3464123" y="2719164"/>
            <a:ext cx="104562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48"/>
              </a:spcBef>
              <a:buNone/>
            </a:pPr>
            <a:r>
              <a:rPr lang="en-US" sz="108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wallet flows.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6004582" y="1093291"/>
            <a:ext cx="2590800" cy="1905000"/>
          </a:xfrm>
          <a:prstGeom prst="rect">
            <a:avLst/>
          </a:prstGeom>
          <a:solidFill>
            <a:srgbClr val="F4F6F9"/>
          </a:solidFill>
          <a:ln w="4763">
            <a:solidFill>
              <a:srgbClr val="D9E0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2143" y="1148060"/>
            <a:ext cx="654412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2B5F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2880" dirty="0"/>
          </a:p>
        </p:txBody>
      </p:sp>
      <p:sp>
        <p:nvSpPr>
          <p:cNvPr id="23" name="Text 21"/>
          <p:cNvSpPr/>
          <p:nvPr/>
        </p:nvSpPr>
        <p:spPr>
          <a:xfrm>
            <a:off x="6192143" y="1662336"/>
            <a:ext cx="235304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07"/>
              </a:spcBef>
              <a:buNone/>
            </a:pPr>
            <a:r>
              <a:rPr lang="en-US" sz="1400" b="1" dirty="0">
                <a:solidFill>
                  <a:srgbClr val="1A1F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Teacher-First Engine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192143" y="1978670"/>
            <a:ext cx="277665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48"/>
              </a:spcBef>
              <a:buNone/>
            </a:pPr>
            <a:r>
              <a:rPr lang="en-US" sz="108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Turns word-of-mouth chaos into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6192143" y="2136353"/>
            <a:ext cx="293492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48"/>
              </a:spcBef>
              <a:buNone/>
            </a:pPr>
            <a:r>
              <a:rPr lang="en-US" sz="108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organized business through one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6192143" y="2294037"/>
            <a:ext cx="251314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48"/>
              </a:spcBef>
              <a:buNone/>
            </a:pPr>
            <a:r>
              <a:rPr lang="en-US" sz="108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professional, shareable profile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6192143" y="2451720"/>
            <a:ext cx="49827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48"/>
              </a:spcBef>
              <a:buNone/>
            </a:pPr>
            <a:r>
              <a:rPr lang="en-US" sz="108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page.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548580" y="4324276"/>
            <a:ext cx="9407002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1A1F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 the local Palestinian market, Academia currently has no direct local competitor</a:t>
            </a:r>
            <a:endParaRPr lang="en-US" sz="1440" dirty="0"/>
          </a:p>
        </p:txBody>
      </p:sp>
      <p:sp>
        <p:nvSpPr>
          <p:cNvPr id="29" name="Text 27"/>
          <p:cNvSpPr/>
          <p:nvPr/>
        </p:nvSpPr>
        <p:spPr>
          <a:xfrm>
            <a:off x="548580" y="4516264"/>
            <a:ext cx="2471157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1A1F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combining all of this.</a:t>
            </a:r>
            <a:endParaRPr lang="en-US" sz="1440" dirty="0"/>
          </a:p>
        </p:txBody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7688" y="4226719"/>
            <a:ext cx="8048625" cy="5048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54632"/>
            <a:ext cx="8229600" cy="9525"/>
          </a:xfrm>
          <a:prstGeom prst="rect">
            <a:avLst/>
          </a:prstGeom>
          <a:solidFill>
            <a:srgbClr val="2B5FE0"/>
          </a:solidFill>
          <a:ln/>
        </p:spPr>
      </p:sp>
      <p:sp>
        <p:nvSpPr>
          <p:cNvPr id="4" name="Text 2"/>
          <p:cNvSpPr/>
          <p:nvPr/>
        </p:nvSpPr>
        <p:spPr>
          <a:xfrm>
            <a:off x="8040142" y="225549"/>
            <a:ext cx="89780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238" kern="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16 / 20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48580" y="369540"/>
            <a:ext cx="329846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238" kern="0" dirty="0">
                <a:solidFill>
                  <a:srgbClr val="2B5F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ENGINEERING FOUNDATION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580" y="594420"/>
            <a:ext cx="4441329" cy="376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527"/>
              </a:spcBef>
              <a:buNone/>
            </a:pPr>
            <a:r>
              <a:rPr lang="en-US" sz="2340" b="1" spc="-94" kern="0" dirty="0">
                <a:solidFill>
                  <a:srgbClr val="1A1F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Tech stack &amp; architecture</a:t>
            </a:r>
            <a:endParaRPr lang="en-US" sz="2340" dirty="0"/>
          </a:p>
        </p:txBody>
      </p:sp>
      <p:sp>
        <p:nvSpPr>
          <p:cNvPr id="7" name="Text 5"/>
          <p:cNvSpPr/>
          <p:nvPr/>
        </p:nvSpPr>
        <p:spPr>
          <a:xfrm>
            <a:off x="548580" y="1078557"/>
            <a:ext cx="556949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B5F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Frontend:</a:t>
            </a:r>
            <a:pPr algn="l" indent="0" marL="0">
              <a:spcAft>
                <a:spcPts val="567"/>
              </a:spcAft>
              <a:buNone/>
            </a:pPr>
            <a:r>
              <a:rPr lang="en-US" sz="108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React 19 + TypeScript, TanStack Start + Router, TanStack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548580" y="1232148"/>
            <a:ext cx="56367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567"/>
              </a:spcAft>
              <a:buNone/>
            </a:pPr>
            <a:r>
              <a:rPr lang="en-US" sz="108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Query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548580" y="1457697"/>
            <a:ext cx="532812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B5F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Styling &amp; UI:</a:t>
            </a:r>
            <a:pPr algn="l" indent="0" marL="0">
              <a:spcAft>
                <a:spcPts val="567"/>
              </a:spcAft>
              <a:buNone/>
            </a:pPr>
            <a:r>
              <a:rPr lang="en-US" sz="108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Tailwind CSS v4 + Radix-based component system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548580" y="1683246"/>
            <a:ext cx="547913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B5F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Internationalization:</a:t>
            </a:r>
            <a:pPr algn="l" indent="0" marL="0">
              <a:spcAft>
                <a:spcPts val="567"/>
              </a:spcAft>
              <a:buNone/>
            </a:pPr>
            <a:r>
              <a:rPr lang="en-US" sz="108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i18next powering real Arabic RTL across 40+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548580" y="1836837"/>
            <a:ext cx="110647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567"/>
              </a:spcAft>
              <a:buNone/>
            </a:pPr>
            <a:r>
              <a:rPr lang="en-US" sz="108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components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548580" y="2062386"/>
            <a:ext cx="550100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B5F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Backend:</a:t>
            </a:r>
            <a:pPr algn="l" indent="0" marL="0">
              <a:spcAft>
                <a:spcPts val="567"/>
              </a:spcAft>
              <a:buNone/>
            </a:pPr>
            <a:r>
              <a:rPr lang="en-US" sz="108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.NET 10 + ASP.NET Core Web API, Entity Framework Core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548580" y="2215976"/>
            <a:ext cx="133786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567"/>
              </a:spcAft>
              <a:buNone/>
            </a:pPr>
            <a:r>
              <a:rPr lang="en-US" sz="108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+ SQL Server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548580" y="2441525"/>
            <a:ext cx="526728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B5F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Structure:</a:t>
            </a:r>
            <a:pPr algn="l" indent="0" marL="0">
              <a:spcAft>
                <a:spcPts val="567"/>
              </a:spcAft>
              <a:buNone/>
            </a:pPr>
            <a:r>
              <a:rPr lang="en-US" sz="108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separate Core, Data, Infrastructure, and API projects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548580" y="2667074"/>
            <a:ext cx="502698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B5F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Auth:</a:t>
            </a:r>
            <a:pPr algn="l" indent="0" marL="0">
              <a:spcAft>
                <a:spcPts val="567"/>
              </a:spcAft>
              <a:buNone/>
            </a:pPr>
            <a:r>
              <a:rPr lang="en-US" sz="108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ASP.NET Core Identity with secure cross-origin cookie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548580" y="2820665"/>
            <a:ext cx="126221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567"/>
              </a:spcAft>
              <a:buNone/>
            </a:pPr>
            <a:r>
              <a:rPr lang="en-US" sz="108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authentication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548580" y="3046214"/>
            <a:ext cx="457473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B5F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Quality:</a:t>
            </a:r>
            <a:pPr algn="l" indent="0" marL="0">
              <a:buNone/>
            </a:pPr>
            <a:r>
              <a:rPr lang="en-US" sz="108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Vitest + Playwright, Swagger-documented API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5157936" y="1093812"/>
            <a:ext cx="3438525" cy="2119312"/>
          </a:xfrm>
          <a:prstGeom prst="rect">
            <a:avLst/>
          </a:prstGeom>
          <a:solidFill>
            <a:srgbClr val="F4F6F9"/>
          </a:solidFill>
          <a:ln w="4763">
            <a:solidFill>
              <a:srgbClr val="D9E0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45534" y="1480096"/>
            <a:ext cx="814388" cy="781050"/>
          </a:xfrm>
          <a:prstGeom prst="rect">
            <a:avLst/>
          </a:prstGeom>
          <a:solidFill>
            <a:srgbClr val="FFFFFF"/>
          </a:solidFill>
          <a:ln w="4763">
            <a:solidFill>
              <a:srgbClr val="2B5F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21130" y="1571625"/>
            <a:ext cx="863270" cy="592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</a:t>
            </a:r>
            <a:endParaRPr lang="en-US" sz="1080" dirty="0"/>
          </a:p>
          <a:p>
            <a:pPr algn="ctr" indent="0" marL="0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React +</a:t>
            </a:r>
            <a:endParaRPr lang="en-US" sz="1080" dirty="0"/>
          </a:p>
          <a:p>
            <a:pPr algn="ctr" indent="0" marL="0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TanStack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6222876" y="1752451"/>
            <a:ext cx="256334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14B8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↔</a:t>
            </a:r>
            <a:endParaRPr lang="en-US" sz="1440" dirty="0"/>
          </a:p>
        </p:txBody>
      </p:sp>
      <p:sp>
        <p:nvSpPr>
          <p:cNvPr id="22" name="Shape 20"/>
          <p:cNvSpPr/>
          <p:nvPr/>
        </p:nvSpPr>
        <p:spPr>
          <a:xfrm>
            <a:off x="6440388" y="1377702"/>
            <a:ext cx="742950" cy="985838"/>
          </a:xfrm>
          <a:prstGeom prst="rect">
            <a:avLst/>
          </a:prstGeom>
          <a:solidFill>
            <a:srgbClr val="FFFFFF"/>
          </a:solidFill>
          <a:ln w="4763">
            <a:solidFill>
              <a:srgbClr val="2B5F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24970" y="1468785"/>
            <a:ext cx="773787" cy="79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REST</a:t>
            </a:r>
            <a:endParaRPr lang="en-US" sz="1080" dirty="0"/>
          </a:p>
          <a:p>
            <a:pPr algn="ctr" indent="0" marL="0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API</a:t>
            </a:r>
            <a:endParaRPr lang="en-US" sz="1080" dirty="0"/>
          </a:p>
          <a:p>
            <a:pPr algn="ctr" indent="0" marL="0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ASP.NET</a:t>
            </a:r>
            <a:endParaRPr lang="en-US" sz="1080" dirty="0"/>
          </a:p>
          <a:p>
            <a:pPr algn="ctr" indent="0" marL="0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Core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7247632" y="1752451"/>
            <a:ext cx="256334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14B8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↔</a:t>
            </a:r>
            <a:endParaRPr lang="en-US" sz="1440" dirty="0"/>
          </a:p>
        </p:txBody>
      </p:sp>
      <p:sp>
        <p:nvSpPr>
          <p:cNvPr id="25" name="Shape 23"/>
          <p:cNvSpPr/>
          <p:nvPr/>
        </p:nvSpPr>
        <p:spPr>
          <a:xfrm>
            <a:off x="7464847" y="1377702"/>
            <a:ext cx="942975" cy="985838"/>
          </a:xfrm>
          <a:prstGeom prst="rect">
            <a:avLst/>
          </a:prstGeom>
          <a:solidFill>
            <a:srgbClr val="FFFFFF"/>
          </a:solidFill>
          <a:ln w="4763">
            <a:solidFill>
              <a:srgbClr val="2B5F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19800" y="1468785"/>
            <a:ext cx="1033143" cy="79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SQL</a:t>
            </a:r>
            <a:endParaRPr lang="en-US" sz="1080" dirty="0"/>
          </a:p>
          <a:p>
            <a:pPr algn="ctr" indent="0" marL="0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Database</a:t>
            </a:r>
            <a:endParaRPr lang="en-US" sz="1080" dirty="0"/>
          </a:p>
          <a:p>
            <a:pPr algn="ctr" indent="0" marL="0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Entity</a:t>
            </a:r>
            <a:endParaRPr lang="en-US" sz="1080" dirty="0"/>
          </a:p>
          <a:p>
            <a:pPr algn="ctr" indent="0" marL="0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Framework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4870713" y="2527622"/>
            <a:ext cx="4012972" cy="386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080" b="1" spc="130" kern="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CLEAN LAYERS / TESTABLE API / TRUE</a:t>
            </a:r>
            <a:endParaRPr lang="en-US" sz="1080" dirty="0"/>
          </a:p>
          <a:p>
            <a:pPr algn="ctr" indent="0" marL="0">
              <a:lnSpc>
                <a:spcPts val="1620"/>
              </a:lnSpc>
              <a:buNone/>
            </a:pPr>
            <a:r>
              <a:rPr lang="en-US" sz="1080" b="1" spc="130" kern="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RTL</a:t>
            </a:r>
            <a:endParaRPr lang="en-US" sz="10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54632"/>
            <a:ext cx="8229600" cy="9525"/>
          </a:xfrm>
          <a:prstGeom prst="rect">
            <a:avLst/>
          </a:prstGeom>
          <a:solidFill>
            <a:srgbClr val="2B5FE0"/>
          </a:solidFill>
          <a:ln/>
        </p:spPr>
      </p:sp>
      <p:sp>
        <p:nvSpPr>
          <p:cNvPr id="4" name="Text 2"/>
          <p:cNvSpPr/>
          <p:nvPr/>
        </p:nvSpPr>
        <p:spPr>
          <a:xfrm>
            <a:off x="8053536" y="225549"/>
            <a:ext cx="88039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238" kern="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17 / 20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48580" y="369540"/>
            <a:ext cx="247715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238" kern="0" dirty="0">
                <a:solidFill>
                  <a:srgbClr val="2B5F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CURRENT PROGRESS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580" y="594420"/>
            <a:ext cx="6604107" cy="376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527"/>
              </a:spcBef>
              <a:buNone/>
            </a:pPr>
            <a:r>
              <a:rPr lang="en-US" sz="2340" b="1" spc="-94" kern="0" dirty="0">
                <a:solidFill>
                  <a:srgbClr val="1A1F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we've actually built and shipped</a:t>
            </a:r>
            <a:endParaRPr lang="en-US" sz="2340" dirty="0"/>
          </a:p>
        </p:txBody>
      </p:sp>
      <p:sp>
        <p:nvSpPr>
          <p:cNvPr id="7" name="Shape 5"/>
          <p:cNvSpPr/>
          <p:nvPr/>
        </p:nvSpPr>
        <p:spPr>
          <a:xfrm>
            <a:off x="548208" y="1067098"/>
            <a:ext cx="2609850" cy="838200"/>
          </a:xfrm>
          <a:prstGeom prst="rect">
            <a:avLst/>
          </a:prstGeom>
          <a:solidFill>
            <a:srgbClr val="F4F6F9"/>
          </a:solidFill>
          <a:ln w="4763">
            <a:solidFill>
              <a:srgbClr val="D9E0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6178" y="1122387"/>
            <a:ext cx="557384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2B5F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81</a:t>
            </a:r>
            <a:endParaRPr lang="en-US" sz="2880" dirty="0"/>
          </a:p>
        </p:txBody>
      </p:sp>
      <p:sp>
        <p:nvSpPr>
          <p:cNvPr id="9" name="Text 7"/>
          <p:cNvSpPr/>
          <p:nvPr/>
        </p:nvSpPr>
        <p:spPr>
          <a:xfrm>
            <a:off x="736178" y="1601465"/>
            <a:ext cx="224362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1080" b="1" spc="108" kern="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BACKEND ENDPOINTS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3267038" y="1067098"/>
            <a:ext cx="2609850" cy="838200"/>
          </a:xfrm>
          <a:prstGeom prst="rect">
            <a:avLst/>
          </a:prstGeom>
          <a:solidFill>
            <a:srgbClr val="F4F6F9"/>
          </a:solidFill>
          <a:ln w="4763">
            <a:solidFill>
              <a:srgbClr val="D9E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54971" y="1122387"/>
            <a:ext cx="359554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14B8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2880" dirty="0"/>
          </a:p>
        </p:txBody>
      </p:sp>
      <p:sp>
        <p:nvSpPr>
          <p:cNvPr id="12" name="Text 10"/>
          <p:cNvSpPr/>
          <p:nvPr/>
        </p:nvSpPr>
        <p:spPr>
          <a:xfrm>
            <a:off x="3454971" y="1601465"/>
            <a:ext cx="121917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1080" b="1" spc="108" kern="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ROLES LIVE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985904" y="1067098"/>
            <a:ext cx="2609850" cy="838200"/>
          </a:xfrm>
          <a:prstGeom prst="rect">
            <a:avLst/>
          </a:prstGeom>
          <a:solidFill>
            <a:srgbClr val="F4F6F9"/>
          </a:solidFill>
          <a:ln w="4763">
            <a:solidFill>
              <a:srgbClr val="D9E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3837" y="1122387"/>
            <a:ext cx="1146036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2B5F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FULL</a:t>
            </a:r>
            <a:endParaRPr lang="en-US" sz="2880" dirty="0"/>
          </a:p>
        </p:txBody>
      </p:sp>
      <p:sp>
        <p:nvSpPr>
          <p:cNvPr id="15" name="Text 13"/>
          <p:cNvSpPr/>
          <p:nvPr/>
        </p:nvSpPr>
        <p:spPr>
          <a:xfrm>
            <a:off x="6173837" y="1601465"/>
            <a:ext cx="260891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1080" b="1" spc="108" kern="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WALLET ENGINE SHIPPED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47650" y="2034257"/>
            <a:ext cx="3933825" cy="1233488"/>
          </a:xfrm>
          <a:prstGeom prst="rect">
            <a:avLst/>
          </a:prstGeom>
          <a:solidFill>
            <a:srgbClr val="F4F6F9"/>
          </a:solidFill>
          <a:ln w="4763">
            <a:solidFill>
              <a:srgbClr val="D9E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6178" y="2127126"/>
            <a:ext cx="444452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Full authentication system live for all 4 roles (Teacher,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736178" y="2284809"/>
            <a:ext cx="202442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Student, Parent, Admin)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736178" y="2529929"/>
            <a:ext cx="445651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89"/>
              </a:spcBef>
              <a:buNone/>
            </a:pPr>
            <a:r>
              <a:rPr lang="en-US" sz="108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Complete admin console shipped: user management,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736178" y="2687613"/>
            <a:ext cx="461013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89"/>
              </a:spcBef>
              <a:buNone/>
            </a:pPr>
            <a:r>
              <a:rPr lang="en-US" sz="108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dynamic content management, and a fully configurable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736178" y="2845296"/>
            <a:ext cx="201358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89"/>
              </a:spcBef>
              <a:buNone/>
            </a:pPr>
            <a:r>
              <a:rPr lang="en-US" sz="108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role-permission system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4662488" y="2034257"/>
            <a:ext cx="3933825" cy="1233488"/>
          </a:xfrm>
          <a:prstGeom prst="rect">
            <a:avLst/>
          </a:prstGeom>
          <a:solidFill>
            <a:srgbClr val="F4F6F9"/>
          </a:solidFill>
          <a:ln w="4763">
            <a:solidFill>
              <a:srgbClr val="D9E0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50978" y="2127126"/>
            <a:ext cx="430744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Full wallet &amp; payments engine shipped end-to-end: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4850978" y="2284809"/>
            <a:ext cx="460268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balance, transaction history, bank-transfer top-up with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4850978" y="2442493"/>
            <a:ext cx="447983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receipt verification, and withdrawal approval workflow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548580" y="4296147"/>
            <a:ext cx="925870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Public teacher-discovery marketplace live: search, filtering, and public profiles — no login required. Booking and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548580" y="4453830"/>
            <a:ext cx="1039798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lesson-scheduling engines are built on the backend; current focus is linking them to real teacher/student screens. Automated testing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548580" y="4611514"/>
            <a:ext cx="91637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is in place.</a:t>
            </a:r>
            <a:endParaRPr lang="en-US" sz="108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7688" y="4217491"/>
            <a:ext cx="8048625" cy="56673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54632"/>
            <a:ext cx="8229600" cy="9525"/>
          </a:xfrm>
          <a:prstGeom prst="rect">
            <a:avLst/>
          </a:prstGeom>
          <a:solidFill>
            <a:srgbClr val="2B5FE0"/>
          </a:solidFill>
          <a:ln/>
        </p:spPr>
      </p:sp>
      <p:sp>
        <p:nvSpPr>
          <p:cNvPr id="4" name="Text 2"/>
          <p:cNvSpPr/>
          <p:nvPr/>
        </p:nvSpPr>
        <p:spPr>
          <a:xfrm>
            <a:off x="8040365" y="225549"/>
            <a:ext cx="89751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238" kern="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18 / 20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48580" y="369540"/>
            <a:ext cx="193484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238" kern="0" dirty="0">
                <a:solidFill>
                  <a:srgbClr val="2B5F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NEXT RELEASES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580" y="594420"/>
            <a:ext cx="1695026" cy="376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527"/>
              </a:spcBef>
              <a:buNone/>
            </a:pPr>
            <a:r>
              <a:rPr lang="en-US" sz="2340" b="1" spc="-94" kern="0" dirty="0">
                <a:solidFill>
                  <a:srgbClr val="1A1F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Roadmap</a:t>
            </a:r>
            <a:endParaRPr lang="en-US" sz="2340" dirty="0"/>
          </a:p>
        </p:txBody>
      </p:sp>
      <p:sp>
        <p:nvSpPr>
          <p:cNvPr id="7" name="Shape 5"/>
          <p:cNvSpPr/>
          <p:nvPr/>
        </p:nvSpPr>
        <p:spPr>
          <a:xfrm>
            <a:off x="640556" y="1195611"/>
            <a:ext cx="7862887" cy="3081338"/>
          </a:xfrm>
          <a:prstGeom prst="rect">
            <a:avLst/>
          </a:prstGeom>
          <a:ln/>
        </p:spPr>
      </p:sp>
      <p:sp>
        <p:nvSpPr>
          <p:cNvPr id="8" name="Shape 6"/>
          <p:cNvSpPr/>
          <p:nvPr/>
        </p:nvSpPr>
        <p:spPr>
          <a:xfrm>
            <a:off x="932483" y="1195350"/>
            <a:ext cx="7572375" cy="428625"/>
          </a:xfrm>
          <a:prstGeom prst="rect">
            <a:avLst/>
          </a:prstGeom>
          <a:solidFill>
            <a:srgbClr val="F4F6F9"/>
          </a:solidFill>
          <a:ln w="4763">
            <a:solidFill>
              <a:srgbClr val="D9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0973" y="1312887"/>
            <a:ext cx="866356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4B8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PROGRESS</a:t>
            </a:r>
            <a:pPr algn="l" indent="0" marL="0">
              <a:buNone/>
            </a:pPr>
            <a:r>
              <a:rPr lang="en-US" sz="1120" b="1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Finish linking teacher/student registration to their respective database records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932483" y="1725997"/>
            <a:ext cx="7572375" cy="428625"/>
          </a:xfrm>
          <a:prstGeom prst="rect">
            <a:avLst/>
          </a:prstGeom>
          <a:solidFill>
            <a:srgbClr val="F4F6F9"/>
          </a:solidFill>
          <a:ln w="4763">
            <a:solidFill>
              <a:srgbClr val="D9E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20973" y="1843534"/>
            <a:ext cx="623601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 the booking and lesson-scheduling systems to real screens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932483" y="2256644"/>
            <a:ext cx="7572375" cy="428625"/>
          </a:xfrm>
          <a:prstGeom prst="rect">
            <a:avLst/>
          </a:prstGeom>
          <a:solidFill>
            <a:srgbClr val="F4F6F9"/>
          </a:solidFill>
          <a:ln w="4763">
            <a:solidFill>
              <a:srgbClr val="D9E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20973" y="2374181"/>
            <a:ext cx="589685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Enable parent-child linking so the parent portal returns real data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932483" y="2787290"/>
            <a:ext cx="7572375" cy="428625"/>
          </a:xfrm>
          <a:prstGeom prst="rect">
            <a:avLst/>
          </a:prstGeom>
          <a:solidFill>
            <a:srgbClr val="F4F6F9"/>
          </a:solidFill>
          <a:ln w="4763">
            <a:solidFill>
              <a:srgbClr val="D9E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20973" y="2904827"/>
            <a:ext cx="567406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Automated payment gateway to replace manual bank transfer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932483" y="3317937"/>
            <a:ext cx="7572375" cy="428625"/>
          </a:xfrm>
          <a:prstGeom prst="rect">
            <a:avLst/>
          </a:prstGeom>
          <a:solidFill>
            <a:srgbClr val="F4F6F9"/>
          </a:solidFill>
          <a:ln w="4763">
            <a:solidFill>
              <a:srgbClr val="D9E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20973" y="3435474"/>
            <a:ext cx="172724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Paid teacher plans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932483" y="3848584"/>
            <a:ext cx="7572375" cy="428625"/>
          </a:xfrm>
          <a:prstGeom prst="rect">
            <a:avLst/>
          </a:prstGeom>
          <a:solidFill>
            <a:srgbClr val="F4F6F9"/>
          </a:solidFill>
          <a:ln w="4763">
            <a:solidFill>
              <a:srgbClr val="D9E0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20973" y="3966121"/>
            <a:ext cx="156452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Mobile app, later</a:t>
            </a:r>
            <a:endParaRPr lang="en-US" sz="112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0556" y="1195611"/>
            <a:ext cx="7862887" cy="308133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54632"/>
            <a:ext cx="8229600" cy="9525"/>
          </a:xfrm>
          <a:prstGeom prst="rect">
            <a:avLst/>
          </a:prstGeom>
          <a:solidFill>
            <a:srgbClr val="2B5FE0"/>
          </a:solidFill>
          <a:ln/>
        </p:spPr>
      </p:sp>
      <p:sp>
        <p:nvSpPr>
          <p:cNvPr id="4" name="Text 2"/>
          <p:cNvSpPr/>
          <p:nvPr/>
        </p:nvSpPr>
        <p:spPr>
          <a:xfrm>
            <a:off x="8040142" y="225549"/>
            <a:ext cx="89780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238" kern="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19 / 20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457200" y="225549"/>
            <a:ext cx="124461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238" kern="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APPENDIX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580" y="369540"/>
            <a:ext cx="231134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238" kern="0" dirty="0">
                <a:solidFill>
                  <a:srgbClr val="2B5F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Q&amp;A BACKUP ONLY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548580" y="594420"/>
            <a:ext cx="3447923" cy="376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527"/>
              </a:spcBef>
              <a:buNone/>
            </a:pPr>
            <a:r>
              <a:rPr lang="en-US" sz="2340" b="1" spc="-94" kern="0" dirty="0">
                <a:solidFill>
                  <a:srgbClr val="1A1F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Technical deep dive</a:t>
            </a:r>
            <a:endParaRPr lang="en-US" sz="2340" dirty="0"/>
          </a:p>
        </p:txBody>
      </p:sp>
      <p:sp>
        <p:nvSpPr>
          <p:cNvPr id="8" name="Text 6"/>
          <p:cNvSpPr/>
          <p:nvPr/>
        </p:nvSpPr>
        <p:spPr>
          <a:xfrm>
            <a:off x="548580" y="1010915"/>
            <a:ext cx="6345912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07"/>
              </a:spcBef>
              <a:buNone/>
            </a:pPr>
            <a:r>
              <a:rPr lang="en-US" sz="119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this slide when the room asks how the foundations hold together.</a:t>
            </a:r>
            <a:endParaRPr lang="en-US" sz="1190" dirty="0"/>
          </a:p>
        </p:txBody>
      </p:sp>
      <p:sp>
        <p:nvSpPr>
          <p:cNvPr id="9" name="Shape 7"/>
          <p:cNvSpPr/>
          <p:nvPr/>
        </p:nvSpPr>
        <p:spPr>
          <a:xfrm>
            <a:off x="549473" y="1359619"/>
            <a:ext cx="3957638" cy="981075"/>
          </a:xfrm>
          <a:prstGeom prst="rect">
            <a:avLst/>
          </a:prstGeom>
          <a:solidFill>
            <a:srgbClr val="F4F6F9"/>
          </a:solidFill>
          <a:ln w="4763">
            <a:solidFill>
              <a:srgbClr val="D9E0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6178" y="1451893"/>
            <a:ext cx="430280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B5F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Wallet integrity:</a:t>
            </a:r>
            <a:pPr algn="l" indent="0" marL="0">
              <a:buNone/>
            </a:pPr>
            <a:r>
              <a:rPr lang="en-US" sz="108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every debit/credit pair (student ↔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736178" y="1605483"/>
            <a:ext cx="470735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teacher) runs as a single atomic transaction — no partial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736178" y="1759074"/>
            <a:ext cx="178267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application on failure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4636889" y="1359619"/>
            <a:ext cx="3957638" cy="981075"/>
          </a:xfrm>
          <a:prstGeom prst="rect">
            <a:avLst/>
          </a:prstGeom>
          <a:solidFill>
            <a:srgbClr val="F4F6F9"/>
          </a:solidFill>
          <a:ln w="4763">
            <a:solidFill>
              <a:srgbClr val="D9E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3594" y="1451893"/>
            <a:ext cx="465657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B5F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Core data model:</a:t>
            </a:r>
            <a:pPr algn="l" indent="0" marL="0">
              <a:buNone/>
            </a:pPr>
            <a:r>
              <a:rPr lang="en-US" sz="108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Booking, BookingRescheduleRequest,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4823594" y="1605483"/>
            <a:ext cx="327814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GroupScheduleDay, ParentStudentLink,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4823594" y="1759074"/>
            <a:ext cx="335979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WalletTransaction, WalletTopUpRequest,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4823594" y="1912665"/>
            <a:ext cx="408668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WithdrawalRequest, PlatformCommissionSetting,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4823594" y="2066255"/>
            <a:ext cx="382172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PlatformRevenueLedger, Page/UserPermission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549473" y="2469579"/>
            <a:ext cx="3957638" cy="676275"/>
          </a:xfrm>
          <a:prstGeom prst="rect">
            <a:avLst/>
          </a:prstGeom>
          <a:solidFill>
            <a:srgbClr val="F4F6F9"/>
          </a:solidFill>
          <a:ln w="4763">
            <a:solidFill>
              <a:srgbClr val="D9E0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6178" y="2563044"/>
            <a:ext cx="428345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B5F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Access control:</a:t>
            </a:r>
            <a:pPr algn="l" indent="0" marL="0">
              <a:buNone/>
            </a:pPr>
            <a:r>
              <a:rPr lang="en-US" sz="108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API-level authorization + database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736178" y="2716634"/>
            <a:ext cx="441811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relation level; a parent only queries children explicitly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736178" y="2870225"/>
            <a:ext cx="191742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linked to their account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4636889" y="2469579"/>
            <a:ext cx="3957638" cy="676275"/>
          </a:xfrm>
          <a:prstGeom prst="rect">
            <a:avLst/>
          </a:prstGeom>
          <a:solidFill>
            <a:srgbClr val="F4F6F9"/>
          </a:solidFill>
          <a:ln w="4763">
            <a:solidFill>
              <a:srgbClr val="D9E0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3594" y="2563044"/>
            <a:ext cx="453671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B5F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Booking design rule:</a:t>
            </a:r>
            <a:pPr algn="l" indent="0" marL="0">
              <a:buNone/>
            </a:pPr>
            <a:r>
              <a:rPr lang="en-US" sz="108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students never directly modify a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4823594" y="2716634"/>
            <a:ext cx="356255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teacher's schedule; teacher-side changes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4823594" y="2870225"/>
            <a:ext cx="429264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auto-propagate to confirmed schedules with notification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547688" y="3274740"/>
            <a:ext cx="8048625" cy="366712"/>
          </a:xfrm>
          <a:prstGeom prst="rect">
            <a:avLst/>
          </a:prstGeom>
          <a:solidFill>
            <a:srgbClr val="F4F6F9"/>
          </a:solidFill>
          <a:ln w="4763">
            <a:solidFill>
              <a:srgbClr val="D9E0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6178" y="3367013"/>
            <a:ext cx="939171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B5F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Authentication boundary:</a:t>
            </a:r>
            <a:pPr algn="l" indent="0" marL="0">
              <a:buNone/>
            </a:pPr>
            <a:r>
              <a:rPr lang="en-US" sz="1080" dirty="0">
                <a:solidFill>
                  <a:srgbClr val="1A1F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cross-origin cookie authentication restricted to a whitelist of trusted frontend origins</a:t>
            </a:r>
            <a:endParaRPr lang="en-US" sz="10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E3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54632"/>
            <a:ext cx="8229600" cy="9525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8001893" y="225549"/>
            <a:ext cx="94752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238" kern="0" dirty="0">
                <a:solidFill>
                  <a:srgbClr val="AFB5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/ 20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48580" y="1141065"/>
            <a:ext cx="271184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259" kern="0" dirty="0">
                <a:solidFill>
                  <a:srgbClr val="14B8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ACADEMIA / CLOSING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580" y="1457176"/>
            <a:ext cx="7176507" cy="6429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960" b="1" spc="-238" kern="0" dirty="0">
                <a:solidFill>
                  <a:srgbClr val="F5F7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From finding the student,</a:t>
            </a:r>
            <a:endParaRPr lang="en-US" sz="3960" dirty="0"/>
          </a:p>
        </p:txBody>
      </p:sp>
      <p:sp>
        <p:nvSpPr>
          <p:cNvPr id="7" name="Text 5"/>
          <p:cNvSpPr/>
          <p:nvPr/>
        </p:nvSpPr>
        <p:spPr>
          <a:xfrm>
            <a:off x="548580" y="1934914"/>
            <a:ext cx="7073287" cy="6429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960" b="1" spc="-238" kern="0" dirty="0">
                <a:solidFill>
                  <a:srgbClr val="F5F7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 managing the session,</a:t>
            </a:r>
            <a:endParaRPr lang="en-US" sz="3960" dirty="0"/>
          </a:p>
        </p:txBody>
      </p:sp>
      <p:sp>
        <p:nvSpPr>
          <p:cNvPr id="8" name="Text 6"/>
          <p:cNvSpPr/>
          <p:nvPr/>
        </p:nvSpPr>
        <p:spPr>
          <a:xfrm>
            <a:off x="548580" y="2412653"/>
            <a:ext cx="7024918" cy="6429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960" b="1" spc="-238" kern="0" dirty="0">
                <a:solidFill>
                  <a:srgbClr val="F5F7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 managing the income.</a:t>
            </a:r>
            <a:endParaRPr lang="en-US" sz="3960" dirty="0"/>
          </a:p>
        </p:txBody>
      </p:sp>
      <p:sp>
        <p:nvSpPr>
          <p:cNvPr id="9" name="Text 7"/>
          <p:cNvSpPr/>
          <p:nvPr/>
        </p:nvSpPr>
        <p:spPr>
          <a:xfrm>
            <a:off x="548580" y="3350419"/>
            <a:ext cx="274183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835"/>
              </a:spcBef>
              <a:buNone/>
            </a:pPr>
            <a:r>
              <a:rPr lang="en-US" sz="1440" dirty="0">
                <a:solidFill>
                  <a:srgbClr val="C6CCD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Thank you — Questions?</a:t>
            </a:r>
            <a:endParaRPr lang="en-US" sz="1440" dirty="0"/>
          </a:p>
        </p:txBody>
      </p:sp>
      <p:sp>
        <p:nvSpPr>
          <p:cNvPr id="10" name="Text 8"/>
          <p:cNvSpPr/>
          <p:nvPr/>
        </p:nvSpPr>
        <p:spPr>
          <a:xfrm>
            <a:off x="548580" y="4535909"/>
            <a:ext cx="464128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130" kern="0" dirty="0">
                <a:solidFill>
                  <a:srgbClr val="8C96A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TEACHER BUSINESS MANAGEMENT PLATFORM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7780734" y="4535909"/>
            <a:ext cx="111624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130" kern="0" dirty="0">
                <a:solidFill>
                  <a:srgbClr val="8C96A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ACADEMIA</a:t>
            </a:r>
            <a:endParaRPr lang="en-US" sz="108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7688" y="4418261"/>
            <a:ext cx="8048625" cy="3143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2026-09-27T11:58:14Z</dcterms:created>
  <dcterms:modified xsi:type="dcterms:W3CDTF">2026-09-27T11:58:14Z</dcterms:modified>
</cp:coreProperties>
</file>