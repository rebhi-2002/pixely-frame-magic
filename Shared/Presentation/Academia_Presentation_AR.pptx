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افتتح بثقة: أكاديميا أداة لإدارة أعمال المعلم، مش تطبيق تعليمي عادي.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ألم المعلم أولاً — هذا يبني الأساس لكل شي جاي بعده.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غطّي جانب الطالب/ولي الأمر بسرعة — مشكلة المعلم هي المحور العاطفي الأساسي.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جملة التموضع — اقرأها ببطء، هي الجملة اللي بدك اللجنة تتذكرها.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امشِ بسرعة على الخطوات السبع — مسار مألوف، ما يحتاج شرح مطول.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جوهر المنتج — خذ وقتك هون، هاي اللي تخلي أكاديميا أداة SaaS حقيقية.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أكّد إن هذا هو نفس محرك المعلم بس من واجهة الطالب — مو منتج منفصل.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أبرز طلب إعادة الجدولة تحديدًا — تفصيل مش موجود عند أغلب المنافسين.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الطبقة المالية — أكّد إنها سجل معاملات حقيقي، مش مجرد دفع داخل التطبيق.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العرض بالسوق المحلي الحقيقي — غزة والضفة تحديدًا.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قول التسلسل الهرمي بصوت عالٍ: المعلم أولاً، وكل شي ثاني مبني حواليه.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امشِ على دورة العمولة مرة وحدة، وبعدين اذكر إيرادات SaaS المستقبلية بسرعة.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اذكر أسماء المنافسين بسرعة، ثم أنزل على النقاط الثلاث بثبات، واختم بالجملة الجريئة.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خليه تقني ومختصر — اللجنة اللي بدها تفاصيل أكتر رح تسأل بالنقاش.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شريحة المصداقية — قدّمها بثقة كإنجازات، مش كاعتذار.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على الجملة، توقف لحظة، وبعدها افتح المجال للأسئلة.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5.png"/><Relationship Id="rId6" Type="http://schemas.openxmlformats.org/officeDocument/2006/relationships/image" Target="../media/image-1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cademia_pptx/icons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" y="274320"/>
            <a:ext cx="10972800" cy="182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1"/>
          <p:cNvSpPr/>
          <p:nvPr/>
        </p:nvSpPr>
        <p:spPr>
          <a:xfrm>
            <a:off x="11201400" y="1298448"/>
            <a:ext cx="82296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207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/ ٢٠٢٦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60020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11146536" y="2788920"/>
            <a:ext cx="45720" cy="777240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0" y="27614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إدارة أعمال المعلم الخصوصي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74904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6C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تساعد المعلم الخصوصي على جذب الطلاب، وإدارة عمله التعليمي، والتحكّم الكامل بدخله — من مكان واحد.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 الخصوصي يدير عمله بالطريقة الصعبة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73384" y="178308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phon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55648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حضور مهني رقمي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84832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الكامل على التوصيات الشخصية ووسائل التواصل لجذب طلاب جدد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073384" y="2990088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9" name="Image 1" descr="/home/claude/academia_pptx/icons/comment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56" y="310896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962656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شي يُدار عبر الهاتف والشات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291840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الحصص والجداول والطلاب تُتابع يدويًا عبر محادثات متفرقة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073384" y="4197096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3" name="Image 2" descr="/home/claude/academia_pptx/icons/calend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43159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4169664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نظام موحد للوجاهي والأونلاين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498848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في مكان واحد ينظم الحصص بصيغتيها معًا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1073384" y="5404104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552297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5376672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الدخل يُتابع بشكل غير منظم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05856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 والعمولات بدون سجل مالي واضح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</a:t>
            </a:r>
            <a:pPr algn="r" indent="0" marL="0">
              <a:buNone/>
            </a:pPr>
            <a:r>
              <a:rPr lang="en-US" sz="1500" i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التدريس عالية — إدارة العمل فوضى.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وولي الأمر أيضًا بلا حل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73384" y="178308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earch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55648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طريقة لمقارنة المعلمين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84832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يعتمد على التوصيات الشخصية، بدون مقارنة منظمة حسب المادة أو السعر أو التقييم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073384" y="2990088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9" name="Image 1" descr="/home/claude/academia_pptx/icons/exchan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56" y="310896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962656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 ودفع غير منظمين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291840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الحصة ودفع قيمتها عملية يدوية عشوائية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073384" y="4197096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3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43159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4169664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 الأمر بلا رؤية واضحة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498848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قليل جدًا من الاطلاع على حصص ونشاط الابن الأكاديمي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1073384" y="5404104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3" descr="/home/claude/academia_pptx/icons/comment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552297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5376672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غير رسمي فقط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05856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 الأمر يعتمد كليًا على تواصل مباشر غير منظم مع المعلم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واحدة. مبنية للمعلم. مفتوحة للطالب.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1987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6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9419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للمعلم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مهنية، تحكم كامل بالحصص الوجاهية والأونلاين، وإدارة كاملة للدخل عبر المحفظة.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04304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20848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للطالب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"Find a Teacher" لاكتشاف ومقارنة وحجز المعلمين بثقة.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3035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9544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6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20848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لولي الأمر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مراقبة فقط لنشاط ابنه المرتبط الأكاديمي.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B1E39"/>
          </a:solidFill>
          <a:ln/>
        </p:spPr>
      </p:sp>
      <p:pic>
        <p:nvPicPr>
          <p:cNvPr id="20" name="Image 3" descr="/home/claude/academia_pptx/icons/quo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744200" y="42062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041648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ليست مجرد منصة للعثور على مدرس، بل أداة لإدارة أعمال المعلم الخصوصي بالكامل — من الحصول على الطلاب إلى إدارة الحصص والدخل.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الرحلة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يستخدم الطالب المنصة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8359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835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1635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931908" y="30083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8681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8681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5481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16468" y="30083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5271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5271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93267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01028" y="30083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63727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31723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</a:t>
            </a:r>
            <a:endParaRPr lang="en-US" sz="1150" dirty="0"/>
          </a:p>
        </p:txBody>
      </p:sp>
      <p:pic>
        <p:nvPicPr>
          <p:cNvPr id="19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5588" y="3008376"/>
            <a:ext cx="402336" cy="40233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02183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402183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370179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</a:t>
            </a:r>
            <a:endParaRPr lang="en-US" sz="1150" dirty="0"/>
          </a:p>
        </p:txBody>
      </p:sp>
      <p:pic>
        <p:nvPicPr>
          <p:cNvPr id="23" name="Image 4" descr="/home/claude/academia_pptx/icons/arrow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470148" y="3008376"/>
            <a:ext cx="402336" cy="4023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240639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24063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20863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</a:t>
            </a:r>
            <a:endParaRPr lang="en-US" sz="1150" dirty="0"/>
          </a:p>
        </p:txBody>
      </p:sp>
      <p:pic>
        <p:nvPicPr>
          <p:cNvPr id="27" name="Image 5" descr="/home/claude/academia_pptx/icons/arrow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854708" y="3008376"/>
            <a:ext cx="402336" cy="40233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90956" y="265176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7909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2"/>
          <p:cNvSpPr txBox="1"/>
          <p:nvPr/>
        </p:nvSpPr>
        <p:spPr>
          <a:xfrm>
            <a:off x="4709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1737360" y="457200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2011680" y="4572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منظم من الاكتشاف إلى حصة مكتملة ومقيَّمة — لا رسالة عشوائية لغريب.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هو جوهر أكاديميا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201168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1305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1072" y="20116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مهنية وعرض للخدمات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394960" y="201168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user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21305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" y="20116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 والمجموعات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1109960" y="320040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laptop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31927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1072" y="32004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الحصص الوجاهية والأونلاين معًا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394960" y="320040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calendar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331927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" y="32004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الجدول وأوقات التوفر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11109960" y="438912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reloa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8832" y="4507992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91072" y="43891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الحجوزات وإعادة الجدولة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5394960" y="438912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histor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4507992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76072" y="43891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الحضور والحصص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رقمي مهني، مش مجرد توصية شخصية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يقدر الطالب يبحث ويفلتر حسب: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08592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08592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75704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75704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42816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2816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المنطقة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709928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09928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أونلاين / وجاهي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08592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8592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75704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75704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الأيام والأوقات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42816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2816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09928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09928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الخبرة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08592" y="3557016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8592" y="3557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B1E39"/>
          </a:solidFill>
          <a:ln/>
        </p:spPr>
      </p:sp>
      <p:pic>
        <p:nvPicPr>
          <p:cNvPr id="24" name="Image 0" descr="/home/claude/academia_pptx/icons/st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4663440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22960" y="43434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يمنح المعلم حضورًا رقميًا مهنيًا بدل الاعتماد فقط على التوصيات الشخصية.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منظمة، مش طلب عشوائي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3405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405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0205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</a:t>
            </a:r>
            <a:endParaRPr lang="en-US" sz="1150" dirty="0"/>
          </a:p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الانتظار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8407908" y="22082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259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259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مقبول /</a:t>
            </a:r>
            <a:endParaRPr lang="en-US" sz="1150" dirty="0"/>
          </a:p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مرفوض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93308" y="22082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113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3113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9913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مؤكّد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378708" y="22082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796796" y="1783080"/>
            <a:ext cx="1051560" cy="10515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7967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14767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مكتمل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0908792" y="4251960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3" descr="/home/claude/academia_pptx/icons/checkcir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43616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251960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قبول أو رفض مع ذكر السبب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10908792" y="4818888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4" descr="/home/claude/academia_pptx/icons/reloa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492861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2960" y="4818888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إعادة جدولة مستقل — الطالب يقترح موعدًا والمعلم يوافق أو يرفض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10908792" y="5385816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5" descr="/home/claude/academia_pptx/icons/histor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8520" y="549554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2960" y="5385816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الحجوزات محفوظ بالكامل — لا حذف نهائي أبدًا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10908792" y="5952744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9" name="Image 6" descr="/home/claude/academia_pptx/icons/star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8520" y="606247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22960" y="5952744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لا يُفتح إلا بعد اكتمال الحصة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مالية حقيقية لعمل المعلم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28248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wall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8562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10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محفظة الطالب مع إمكانية الشحن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13248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receip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8562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شحن بتحويل بنكي مع تحقق من الإيصال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1128248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9077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10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احتساب عمولة تلقائي عند التأكيد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13248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9077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أرباح المعلم تُضاف تلقائيًا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11128248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history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395935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910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حركات مالية كامل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13248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filedownload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5935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760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سحب للمعلمين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11128248" y="48920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chartlin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0" y="501091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291072" y="48920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إيرادات المنصة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 المستهدف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ليش فلسطين، وليش الآن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55096" y="16916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mappoin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64208"/>
            <a:ext cx="10305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التركيز الجغرافي الأساسي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93392"/>
            <a:ext cx="10305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قطاع غزة والضفة الغربية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055096" y="26060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9" name="Image 1" descr="/home/claude/academia_pptx/icons/boo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56" y="27432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578608"/>
            <a:ext cx="10305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كاملة للدروس الخصوصية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907792"/>
            <a:ext cx="10305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وجاهي، أونلاين، فردي، وجماعي لطلاب المراحل الدراسية المختلفة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اليوم، هذا السوق يُدار عبر: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35431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35431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15975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15975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فيسبوك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96519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6519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مكالمات هاتفية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7063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77063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تحويلات بنكية يدوية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7607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7607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ورقية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i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تجمع كل هذا بمنصة واحدة.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الفئات المستهدفة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مبنية للمعلم أولاً، بالتصميم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19672" y="16916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0B1E39"/>
          </a:solidFill>
          <a:ln/>
        </p:spPr>
      </p:sp>
      <p:sp>
        <p:nvSpPr>
          <p:cNvPr id="5" name="Shape 3"/>
          <p:cNvSpPr/>
          <p:nvPr/>
        </p:nvSpPr>
        <p:spPr>
          <a:xfrm>
            <a:off x="9902952" y="20116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2952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B1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أساسي</a:t>
            </a:r>
            <a:endParaRPr lang="en-US" sz="1200" dirty="0"/>
          </a:p>
        </p:txBody>
      </p:sp>
      <p:pic>
        <p:nvPicPr>
          <p:cNvPr id="7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39712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839712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"جذب الطلاب + إدارة التدريس</a:t>
            </a:r>
            <a:endParaRPr lang="en-US" sz="14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إدارة العمل + إدارة الدخل"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839712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المنصة الأساسية مبنية لخدمة المعلم أولاً.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6072" y="169164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94767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2B5F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0832" y="19476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فرعي</a:t>
            </a:r>
            <a:endParaRPr lang="en-US" sz="1050" dirty="0"/>
          </a:p>
        </p:txBody>
      </p:sp>
      <p:pic>
        <p:nvPicPr>
          <p:cNvPr id="14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24414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76472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يكتشف، يقارن، ويحجز مع المعلمين.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76072" y="365760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70832" y="391363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70832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داعم</a:t>
            </a:r>
            <a:endParaRPr lang="en-US" sz="1050" dirty="0"/>
          </a:p>
        </p:txBody>
      </p:sp>
      <p:pic>
        <p:nvPicPr>
          <p:cNvPr id="20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44074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76472" y="4370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 الأمر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نشاط الأبناء المرتبطين الأكاديمي.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إيرادات هجين: منصة + SaaS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22792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216712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5672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يدفع</a:t>
            </a:r>
            <a:endParaRPr lang="en-US" sz="13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الحجز</a:t>
            </a:r>
            <a:endParaRPr lang="en-US" sz="1300" dirty="0"/>
          </a:p>
        </p:txBody>
      </p:sp>
      <p:pic>
        <p:nvPicPr>
          <p:cNvPr id="7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06740" y="2276856"/>
            <a:ext cx="329184" cy="329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02352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9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167128"/>
            <a:ext cx="402336" cy="4023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85232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خصم عمولة</a:t>
            </a:r>
            <a:endParaRPr lang="en-US" sz="13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1300" dirty="0"/>
          </a:p>
        </p:txBody>
      </p:sp>
      <p:pic>
        <p:nvPicPr>
          <p:cNvPr id="11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86300" y="2276856"/>
            <a:ext cx="329184" cy="32918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581912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13" name="Image 4" descr="/home/claude/academia_pptx/icons/moneybill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52" y="2167128"/>
            <a:ext cx="402336" cy="40233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764792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 يستلم</a:t>
            </a:r>
            <a:endParaRPr lang="en-US" sz="13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صافي الأرباح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1581912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العمولة قابلة للتهيئة من الإدارة.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إيرادات مستقبلية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8257032" y="3977640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8257032" y="39776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معلم احترافية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276088" y="3977640"/>
            <a:ext cx="279806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276088" y="3977640"/>
            <a:ext cx="2798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ظهور أعلى بالبحث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1417320" y="3977640"/>
            <a:ext cx="36758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417320" y="3977640"/>
            <a:ext cx="3675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تحليلات وتقارير متقدمة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9281160" y="4544568"/>
            <a:ext cx="235915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9281160" y="4544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تسويقية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22392" y="4544568"/>
            <a:ext cx="36758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22392" y="4544568"/>
            <a:ext cx="3675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متقدمة للمجموعات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بالإضافة إلى: خدمات رقمية إضافية حول عمل المعلم، بدون تغيير جوهر المنصة.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التنافسية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معظم المنافسين يغطّون جزء واحد فقط من الصورة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88752" y="17830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88752" y="17830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272016" y="1783080"/>
            <a:ext cx="115214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72016" y="178308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Hissaa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50608" y="1783080"/>
            <a:ext cx="195681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50608" y="17830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MyPrivateTutor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33288" y="1783080"/>
            <a:ext cx="12527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33288" y="17830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Darisni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07208" y="1783080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07208" y="178308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TutorBird / Teachworks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2578608"/>
            <a:ext cx="548640" cy="54864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6" name="Image 0" descr="/home/claude/academia_pptx/icons/handshak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2706624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2423160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SaaS معًا  —  </a:t>
            </a:r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المنافسون إما سوق حجز فقط، أو أداة إدارة فقط — أكاديميا الوحيدة اللي تجمعهم.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44728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744200" y="3602736"/>
            <a:ext cx="548640" cy="54864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21" name="Image 1" descr="/home/claude/academia_pptx/icons/mappoin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216" y="3730752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58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3447288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ملاءمة السوق المحلي  —  </a:t>
            </a:r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تدعم الوجاهي مش بس الأونلاين، بآليات دفع تناسب طريقة الدفع المحلية فعليًا.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548640" y="44714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744200" y="4626864"/>
            <a:ext cx="548640" cy="54864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26" name="Image 2" descr="/home/claude/academia_pptx/icons/rock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16" y="475488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580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1280160" y="447141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Teacher-First Engine  —  </a:t>
            </a:r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تحوّل فوضى التوصيات الشخصية لعمل منظم عبر صفحة مهنية واحدة قابلة للمشاركة.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548640" y="5541264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B1E39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22960" y="55412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بالسوق الفلسطيني المحلي، </a:t>
            </a:r>
            <a:pPr algn="r" indent="0" marL="0">
              <a:buNone/>
            </a:pPr>
            <a:r>
              <a:rPr lang="en-US" sz="1450" b="1" i="1" dirty="0">
                <a:solidFill>
                  <a:srgbClr val="5F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pPr algn="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حاليًا بدون منافس مباشر يجمع كل هذا.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 الغطاء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91072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65392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الفرونت اند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65392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Start + Router (فريموورك متكامل)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لجلب البيانات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 + Radix UI (shadcn/ui)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i18next — دعم RTL حقيقي بأكثر من 40 مكوّن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(اختبارات وحدة) + Playwright (E2E)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الباك اند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 + ASP.NET Core Web API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 10 + SQL Server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Clean/Layered: مشاريع منفصلة (Core / Data / Infrastructure / API)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المصادقة: ASP.NET Core Identity عبر Cookie آمن (وليس Token)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API كامل عبر Swagger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05672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1" name="Image 0" descr="/home/claude/academia_pptx/icons/lapto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46954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915400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</a:t>
            </a:r>
            <a:endParaRPr lang="en-US" sz="115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(React + TanStack)</a:t>
            </a:r>
            <a:endParaRPr lang="en-US" sz="1150" dirty="0"/>
          </a:p>
        </p:txBody>
      </p:sp>
      <p:pic>
        <p:nvPicPr>
          <p:cNvPr id="13" name="Image 1" descr="/home/claude/academia_pptx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179308" y="4741164"/>
            <a:ext cx="292608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10912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5" name="Image 2" descr="/home/claude/academia_pptx/icons/serv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46954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5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(ASP.NET Core)</a:t>
            </a:r>
            <a:endParaRPr lang="en-US" sz="1150" dirty="0"/>
          </a:p>
        </p:txBody>
      </p:sp>
      <p:pic>
        <p:nvPicPr>
          <p:cNvPr id="17" name="Image 3" descr="/home/claude/academia_pptx/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384548" y="4741164"/>
            <a:ext cx="292608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216152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9" name="Image 4" descr="/home/claude/academia_pptx/icons/databas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4695444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SQL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وين وصلنا فعليًا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 أنجزناه وسلّمناه فعليًا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19872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48472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٨١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348472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بالباك اند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53712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 شغالة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١٠٠٪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المحفظة مكتمل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237976" y="297180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4" name="Image 0" descr="/home/claude/academia_pptx/icons/checkcirc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9416" y="306324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2971800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دخول/تسجيل كامل وشغال لكل الأدوار الأربعة (معلم، طالب، ولي أمر، إدارة)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1237976" y="3538728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7" name="Image 1" descr="/home/claude/academia_pptx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36301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3538728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أدمن كاملة: إدارة مستخدمين، محتوى ديناميكي، ونظام صلاحيات قابل للتهيئة بالكامل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11237976" y="4105656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0" name="Image 2" descr="/home/claude/academia_pptx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16" y="419709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8640" y="4105656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محفظة ومدفوعات كامل من طرف لطرف: رصيد، سجل حركات، شحن بإيصال، سحب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11237976" y="4672584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3" name="Image 3" descr="/home/claude/academia_pptx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416" y="47640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" y="4672584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اكتشاف معلمين عام وشغال: بحث، فلترة، بروفايلات — بدون تسجيل دخول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1237976" y="5239512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6" name="Image 4" descr="/home/claude/academia_pptx/icons/bol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9416" y="53309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5239512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الحجز والجدولة مبني بالكامل بالباك اند — التركيز الحالي على طبقة ربط الحساب بشاشات المعلم/الطالب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11237976" y="580644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9" name="Image 5" descr="/home/claude/academia_pptx/icons/checkcirc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9416" y="589788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8640" y="5806440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آلية فعلية (Unit + End-to-end) كجزء من منهجية العمل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38912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" name="Image 0" descr="/home/claude/academia_pptx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97280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24688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— من العثور على الطالب، إلى إدارة الحصة، إلى إدارة الدخل.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326880" y="3840480"/>
            <a:ext cx="20116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02336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لكم — أسئلة؟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أكاديميا — منصة إدارة أعمال المعلم الخصوصي</dc:title>
  <dc:subject>PptxGenJS Presentation</dc:subject>
  <dc:creator>Academia</dc:creator>
  <cp:lastModifiedBy>Academia</cp:lastModifiedBy>
  <cp:revision>1</cp:revision>
  <dcterms:created xsi:type="dcterms:W3CDTF">2026-09-27T17:17:51Z</dcterms:created>
  <dcterms:modified xsi:type="dcterms:W3CDTF">2026-09-27T17:17:51Z</dcterms:modified>
</cp:coreProperties>
</file>