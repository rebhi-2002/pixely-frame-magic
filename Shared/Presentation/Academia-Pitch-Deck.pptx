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warm, not salesy. Academia turns fragmented private tutoring into one trusted marketplace — discovery, payment, and progress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of the deck — keep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Grounded in the founders own SRS problem statement and milestones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slide. Signal business-first thinking before market sizing.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invented Academia-specific TAM figure — real peer funding as proof of category appetite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funded regional players — none combine discovery + wallet + ledger + parent dashboard + academic tracking in one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Four-role value proposition. Emphasize role-aware.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50MB upload limit and PDF/Excel export are real documented acceptance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chip is a documented requirement from the SRS/user stories, not marketing filler.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labeled as a concept mockup, not a screenshot. Say the caption out loud before a juror has to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Maps to FR-W03a/FR-W03b in the SRS — a single atomic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80/20 split is illustrative only — say this out loud so the jury does not mistake it for a committed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stack from the codebase — React 19.2 + TypeScript + Vite + TanStack; ASP.NET Core + EF Core + Identity/JWT.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the team's real Infrastructure/Services architecture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frontend's own integration notes. Transparency as a strength, said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"Future" pills are clearly exploratory, not committed revenue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a formula, not a number. If pushed for a figure, walk through this live with a hypothetical rather than presenting one as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Classroom wins on simplicity, Udemy on breadth. Academia's edge is live+paid+marketplace+family visibility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mention is a future release, not a current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plainly and move on — naming your own risks before a juror does reads as maturity, not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Retention argument as much as acquisition.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answer to why would a teacher accept a commission.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 is the real 12-week milestones plan; right column is explicitly future/out-of-scope.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names from the SRS cover page; role attributions follow repo/hosting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credibility, not hype. No invented funding amount is quoted. Swap the placeholder email/site/handle for the real ones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1.png"/><Relationship Id="rId4" Type="http://schemas.openxmlformats.org/officeDocument/2006/relationships/image" Target="../media/image-2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MARKETPLACE &amp; LMS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04672" y="11430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</a:t>
            </a:r>
            <a:pPr indent="0" marL="0">
              <a:buNone/>
            </a:pPr>
            <a:r>
              <a:rPr lang="en-US" sz="6000" b="1" i="1" dirty="0">
                <a:solidFill>
                  <a:srgbClr val="E9C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marketplace that connects students and teachers around real courses, real payments, and real progress — replacing scattered WhatsApp groups and disconnected spreadsheets with one trusted platform.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1420978" cy="365760"/>
          </a:xfrm>
          <a:prstGeom prst="roundRect">
            <a:avLst>
              <a:gd name="adj" fmla="val 45000"/>
            </a:avLst>
          </a:prstGeom>
          <a:solidFill>
            <a:srgbClr val="1C2C48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49040"/>
            <a:ext cx="1420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+ LMS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08530" y="3749040"/>
            <a:ext cx="1495958" cy="365760"/>
          </a:xfrm>
          <a:prstGeom prst="roundRect">
            <a:avLst>
              <a:gd name="adj" fmla="val 45000"/>
            </a:avLst>
          </a:prstGeom>
          <a:solidFill>
            <a:srgbClr val="1C2C48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08530" y="3749040"/>
            <a:ext cx="1495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In-platform Wallet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3749040"/>
            <a:ext cx="1420978" cy="365760"/>
          </a:xfrm>
          <a:prstGeom prst="roundRect">
            <a:avLst>
              <a:gd name="adj" fmla="val 45000"/>
            </a:avLst>
          </a:prstGeom>
          <a:solidFill>
            <a:srgbClr val="1C2C48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69080" y="3749040"/>
            <a:ext cx="1420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Tracking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54650" y="3749040"/>
            <a:ext cx="1420978" cy="365760"/>
          </a:xfrm>
          <a:prstGeom prst="roundRect">
            <a:avLst>
              <a:gd name="adj" fmla="val 45000"/>
            </a:avLst>
          </a:prstGeom>
          <a:solidFill>
            <a:srgbClr val="2A2213"/>
          </a:solidFill>
          <a:ln w="12700">
            <a:solidFill>
              <a:srgbClr val="CF9F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54650" y="3749040"/>
            <a:ext cx="1420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Engine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 flipH="1" flipV="1">
            <a:off x="9921240" y="3840480"/>
            <a:ext cx="-2194560" cy="-1691640"/>
          </a:xfrm>
          <a:prstGeom prst="line">
            <a:avLst/>
          </a:prstGeom>
          <a:noFill/>
          <a:ln w="15875">
            <a:solidFill>
              <a:srgbClr val="2A3A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921240" y="3840480"/>
            <a:ext cx="1280160" cy="-1828800"/>
          </a:xfrm>
          <a:prstGeom prst="line">
            <a:avLst/>
          </a:prstGeom>
          <a:noFill/>
          <a:ln w="15875">
            <a:solidFill>
              <a:srgbClr val="2A3A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9921240" y="3840480"/>
            <a:ext cx="-2240280" cy="914400"/>
          </a:xfrm>
          <a:prstGeom prst="line">
            <a:avLst/>
          </a:prstGeom>
          <a:noFill/>
          <a:ln w="15875">
            <a:solidFill>
              <a:srgbClr val="2A3A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21240" y="3840480"/>
            <a:ext cx="1325880" cy="960120"/>
          </a:xfrm>
          <a:prstGeom prst="line">
            <a:avLst/>
          </a:prstGeom>
          <a:noFill/>
          <a:ln w="15875">
            <a:solidFill>
              <a:srgbClr val="2A3A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83980" y="2903220"/>
            <a:ext cx="960120" cy="96012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18" name="Image 0" descr="/home/claude/pptx_build/icons/layers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6004" y="3095244"/>
            <a:ext cx="573192" cy="57319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397496" y="1819656"/>
            <a:ext cx="658368" cy="65836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20" name="Image 1" descr="/home/claude/pptx_build/icons/users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170" y="1951330"/>
            <a:ext cx="393046" cy="39304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0872216" y="1682496"/>
            <a:ext cx="658368" cy="65836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22" name="Image 2" descr="/home/claude/pptx_build/icons/book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890" y="1814170"/>
            <a:ext cx="393046" cy="39304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351776" y="4425696"/>
            <a:ext cx="658368" cy="65836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24" name="Image 3" descr="/home/claude/pptx_build/icons/wallet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450" y="4557370"/>
            <a:ext cx="393046" cy="39304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0917936" y="4471416"/>
            <a:ext cx="658368" cy="65836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26" name="Image 4" descr="/home/claude/pptx_build/icons/chart_cre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610" y="4603090"/>
            <a:ext cx="393046" cy="39304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0362895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2039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9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24048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the market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2743200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tutoring is stuck in group chats, and who else is chasing this gap.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3447288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9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3977640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&amp; how it works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4315968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wallet, commission engine, and academic tracking end to end.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5020056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5184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9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555040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engineering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5888736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security, and an honest look at where we are today.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87452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3952" y="2039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9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24048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 &amp; differentiation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2743200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against Google Classroom, Udemy, and regional peers.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447288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9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3977640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Winning both sides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4315968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switch, and why teachers accept a commission.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5020056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5184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9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555040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Roadmap, team &amp; the ask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5888736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next, who is building it, and what we need.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teaching is still run through group chats.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350008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upload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41448"/>
            <a:ext cx="272948" cy="2729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2916936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get lost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3282696"/>
            <a:ext cx="30266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and files scatter across social-media groups and manual folders — nothing centralized, nothing searchable.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07992" y="21488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350008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1" name="Image 1" descr="/home/claude/pptx_build/icons/search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41448"/>
            <a:ext cx="272948" cy="2729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2916936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discovery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282696"/>
            <a:ext cx="30266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student reaches a teacher only through a personal link or word of mouth — no place to browse and compare.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93024" y="21488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2350008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6" name="Image 2" descr="/home/claude/pptx_build/icons/bank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441448"/>
            <a:ext cx="272948" cy="2729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94192" y="2916936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is manual and risky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3282696"/>
            <a:ext cx="30266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are chased informally, progress is not tracked, and parents have no visibility into attendance or spend.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gap our own field research surfaced: instructors and students rely on social-media groups and disconnected manual methods for materials, join requests, and payment.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397764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1C2C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OPERATING PRINCIPLE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69164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0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SaaS product isn't the app.
</a:t>
            </a:r>
            <a:pPr indent="0" marL="0">
              <a:lnSpc>
                <a:spcPct val="118000"/>
              </a:lnSpc>
              <a:buNone/>
            </a:pPr>
            <a:r>
              <a:rPr lang="en-US" sz="3000" i="1" dirty="0">
                <a:solidFill>
                  <a:srgbClr val="E9C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whole ecosystem</a:t>
            </a:r>
            <a:pPr indent="0" marL="0">
              <a:lnSpc>
                <a:spcPct val="118000"/>
              </a:lnSpc>
              <a:buNone/>
            </a:pPr>
            <a:r>
              <a:rPr lang="en-US" sz="30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around it — who it's for, what it's worth to them, and whether they'll actually pay.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4160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wrote a line of code, we asked who we're solving this for, how big that market really is, and whether people would pay for the answer — the same questions this jury is asking us right now.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the opportunity honestly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3931920" cy="3931920"/>
          </a:xfrm>
          <a:prstGeom prst="ellipse">
            <a:avLst/>
          </a:prstGeom>
          <a:solidFill>
            <a:srgbClr val="3FA295">
              <a:alpha val="12000"/>
            </a:srgbClr>
          </a:solidFill>
          <a:ln w="17780">
            <a:solidFill>
              <a:srgbClr val="3FA295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2354580"/>
            <a:ext cx="2697480" cy="2697480"/>
          </a:xfrm>
          <a:prstGeom prst="ellipse">
            <a:avLst/>
          </a:prstGeom>
          <a:solidFill>
            <a:srgbClr val="CF9F3F">
              <a:alpha val="12000"/>
            </a:srgbClr>
          </a:solidFill>
          <a:ln w="17780">
            <a:solidFill>
              <a:srgbClr val="CF9F3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0260" y="2948940"/>
            <a:ext cx="1508760" cy="1508760"/>
          </a:xfrm>
          <a:prstGeom prst="ellipse">
            <a:avLst/>
          </a:prstGeom>
          <a:solidFill>
            <a:srgbClr val="D98368">
              <a:alpha val="12000"/>
            </a:srgbClr>
          </a:solidFill>
          <a:ln w="17780">
            <a:solidFill>
              <a:srgbClr val="D98368">
                <a:alpha val="6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02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A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7830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Addressable Market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09397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spent on private tutoring and course-based learning across our target region.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7432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Serviceable Available Market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305409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and students already paying for lessons, reachable online, willing to transact digitally.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7033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Serviceable Obtainable Market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401421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teachers and small tutoring centers onboarded through direct partnerships.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$41M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5349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 Academy — Series B, 2026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$27.5M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5349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Abwaab — total raised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$14.5M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5349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Al-Mentor — total raised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6172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publicly reported funding for comparable regional ed-tech peers — proof of investor appetite, not Academia's own valuation.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IS CHASING THIS GAP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regional players — and where they stop short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624328" cy="3703320"/>
          </a:xfrm>
          <a:prstGeom prst="roundRect">
            <a:avLst>
              <a:gd name="adj" fmla="val 313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167128"/>
            <a:ext cx="457200" cy="457200"/>
          </a:xfrm>
          <a:prstGeom prst="ellipse">
            <a:avLst/>
          </a:prstGeom>
          <a:solidFill>
            <a:srgbClr val="E9C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71576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Noon Academy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971800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· 2013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24128" y="3209544"/>
            <a:ext cx="1554480" cy="256032"/>
          </a:xfrm>
          <a:prstGeom prst="roundRect">
            <a:avLst>
              <a:gd name="adj" fmla="val 64286"/>
            </a:avLst>
          </a:prstGeom>
          <a:solidFill>
            <a:srgbClr val="112824"/>
          </a:solidFill>
          <a:ln w="12700">
            <a:solidFill>
              <a:srgbClr val="3FA29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32095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tutoring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3566160"/>
            <a:ext cx="22219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gamified live tutoring; Series B ≈$41M (2026). Strong KSA/Egypt reach.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1024128" y="4873752"/>
            <a:ext cx="2221992" cy="0"/>
          </a:xfrm>
          <a:prstGeom prst="line">
            <a:avLst/>
          </a:prstGeom>
          <a:noFill/>
          <a:ln w="9525">
            <a:solidFill>
              <a:srgbClr val="2A3A57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1024128" y="496519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marketplace wallet, no parent finance dashboard.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630168" y="1965960"/>
            <a:ext cx="2624328" cy="3703320"/>
          </a:xfrm>
          <a:prstGeom prst="roundRect">
            <a:avLst>
              <a:gd name="adj" fmla="val 313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31336" y="2167128"/>
            <a:ext cx="457200" cy="457200"/>
          </a:xfrm>
          <a:prstGeom prst="ellipse">
            <a:avLst/>
          </a:prstGeom>
          <a:solidFill>
            <a:srgbClr val="E9C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3133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831336" y="271576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Orcas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831336" y="2971800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· 2013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31336" y="3209544"/>
            <a:ext cx="1554480" cy="256032"/>
          </a:xfrm>
          <a:prstGeom prst="roundRect">
            <a:avLst>
              <a:gd name="adj" fmla="val 64286"/>
            </a:avLst>
          </a:prstGeom>
          <a:solidFill>
            <a:srgbClr val="112824"/>
          </a:solidFill>
          <a:ln w="12700">
            <a:solidFill>
              <a:srgbClr val="3FA29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31336" y="32095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discovery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3831336" y="3566160"/>
            <a:ext cx="22219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connecting parents/students with nearby tutors, online &amp; offline.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3831336" y="4873752"/>
            <a:ext cx="2221992" cy="0"/>
          </a:xfrm>
          <a:prstGeom prst="line">
            <a:avLst/>
          </a:prstGeom>
          <a:noFill/>
          <a:ln w="9525">
            <a:solidFill>
              <a:srgbClr val="2A3A57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3831336" y="496519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Discovery-only, not a full course/LMS + commission engine.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437376" y="1965960"/>
            <a:ext cx="2624328" cy="3703320"/>
          </a:xfrm>
          <a:prstGeom prst="roundRect">
            <a:avLst>
              <a:gd name="adj" fmla="val 313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8544" y="2167128"/>
            <a:ext cx="457200" cy="457200"/>
          </a:xfrm>
          <a:prstGeom prst="ellipse">
            <a:avLst/>
          </a:prstGeom>
          <a:solidFill>
            <a:srgbClr val="E9CD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38544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638544" y="271576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Al-Mentor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638544" y="2971800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· 2016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38544" y="3209544"/>
            <a:ext cx="1554480" cy="256032"/>
          </a:xfrm>
          <a:prstGeom prst="roundRect">
            <a:avLst>
              <a:gd name="adj" fmla="val 64286"/>
            </a:avLst>
          </a:prstGeom>
          <a:solidFill>
            <a:srgbClr val="112824"/>
          </a:solidFill>
          <a:ln w="12700">
            <a:solidFill>
              <a:srgbClr val="3FA29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38544" y="32095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courses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638544" y="3566160"/>
            <a:ext cx="22219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video courses by experts; 80+ enterprise partnerships across MENA.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6638544" y="4873752"/>
            <a:ext cx="2221992" cy="0"/>
          </a:xfrm>
          <a:prstGeom prst="line">
            <a:avLst/>
          </a:prstGeom>
          <a:noFill/>
          <a:ln w="9525">
            <a:solidFill>
              <a:srgbClr val="2A3A57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6638544" y="496519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Skills/career content, not K-12 attendance or live class mgmt.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244584" y="1965960"/>
            <a:ext cx="2624328" cy="3703320"/>
          </a:xfrm>
          <a:prstGeom prst="roundRect">
            <a:avLst>
              <a:gd name="adj" fmla="val 313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45752" y="2167128"/>
            <a:ext cx="457200" cy="457200"/>
          </a:xfrm>
          <a:prstGeom prst="ellipse">
            <a:avLst/>
          </a:prstGeom>
          <a:solidFill>
            <a:srgbClr val="E9CD8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4575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9445752" y="271576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Nafham / Tyro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9445752" y="2971800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· merged 2021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445752" y="3209544"/>
            <a:ext cx="1554480" cy="256032"/>
          </a:xfrm>
          <a:prstGeom prst="roundRect">
            <a:avLst>
              <a:gd name="adj" fmla="val 64286"/>
            </a:avLst>
          </a:prstGeom>
          <a:solidFill>
            <a:srgbClr val="112824"/>
          </a:solidFill>
          <a:ln w="12700">
            <a:solidFill>
              <a:srgbClr val="3FA29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445752" y="32095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+ tutoring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9445752" y="3566160"/>
            <a:ext cx="22219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crowdsourced video lessons (6M+ users) merged with a live-tutoring booking app.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9445752" y="4873752"/>
            <a:ext cx="2221992" cy="0"/>
          </a:xfrm>
          <a:prstGeom prst="line">
            <a:avLst/>
          </a:prstGeom>
          <a:noFill/>
          <a:ln w="9525">
            <a:solidFill>
              <a:srgbClr val="2A3A57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9445752" y="496519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wallet, commission ledger, or parent controls.</a:t>
            </a:r>
            <a:endParaRPr lang="en-US" sz="880" dirty="0"/>
          </a:p>
        </p:txBody>
      </p:sp>
      <p:sp>
        <p:nvSpPr>
          <p:cNvPr id="44" name="Text 42"/>
          <p:cNvSpPr txBox="1"/>
          <p:nvPr/>
        </p:nvSpPr>
        <p:spPr>
          <a:xfrm>
            <a:off x="822960" y="5870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reported facts; positioning gaps are our own competitive analysis, not claims made by these companies.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where teaching, learning, and paying finally live together.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is an education marketplace and learning platform connecting students, teachers, and courses — combining discovery, enrollment, an internal wallet for fees and payouts, and academic tracking such as attendance and exams in a single role-aware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40880" y="1554480"/>
            <a:ext cx="4343400" cy="4617720"/>
          </a:xfrm>
          <a:prstGeom prst="roundRect">
            <a:avLst>
              <a:gd name="adj" fmla="val 2105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609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serves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60920" y="2286000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8" name="Image 0" descr="/home/claude/pptx_build/icons/users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377440"/>
            <a:ext cx="272948" cy="2729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973568" y="22677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73568" y="25328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request enrollment, pay from one wallet, track progress.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7360920" y="3246120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2" name="Image 1" descr="/home/claude/pptx_build/icons/book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337560"/>
            <a:ext cx="272948" cy="2729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73568" y="3227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7973568" y="34930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courses and lessons, manage enrollment, get paid automatically.</a:t>
            </a:r>
            <a:endParaRPr lang="en-US" sz="970" dirty="0"/>
          </a:p>
        </p:txBody>
      </p:sp>
      <p:sp>
        <p:nvSpPr>
          <p:cNvPr id="15" name="Shape 11"/>
          <p:cNvSpPr/>
          <p:nvPr/>
        </p:nvSpPr>
        <p:spPr>
          <a:xfrm>
            <a:off x="7360920" y="4206240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6" name="Image 2" descr="/home/claude/pptx_build/icons/shield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297680"/>
            <a:ext cx="272948" cy="2729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973568" y="4187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7973568" y="44531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follow attendance, results, and spend.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7360920" y="5166360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20" name="Image 3" descr="/home/claude/pptx_build/icons/shieldcheck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5257800"/>
            <a:ext cx="272948" cy="2729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73568" y="51480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Admins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7973568" y="54132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approvals, permissions, finance, and audit trails.</a:t>
            </a:r>
            <a:endParaRPr lang="en-US" sz="970" dirty="0"/>
          </a:p>
        </p:txBody>
      </p:sp>
      <p:sp>
        <p:nvSpPr>
          <p:cNvPr id="23" name="Text 17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modules, one connected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075688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search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167128"/>
            <a:ext cx="272948" cy="2729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2642616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&amp; discovery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3008376"/>
            <a:ext cx="3026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catalog of courses, categories, and teacher groups students can browse and compare.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507992" y="187452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075688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1" name="Image 1" descr="/home/claude/pptx_build/icons/book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167128"/>
            <a:ext cx="272948" cy="2729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2642616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Courses, groups &amp; lessons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008376"/>
            <a:ext cx="3026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upload and structure materials into lesson categories; files up to 50MB.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193024" y="187452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2075688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6" name="Image 2" descr="/home/claude/pptx_build/icons/users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167128"/>
            <a:ext cx="272948" cy="2729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94192" y="2642616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requests &amp; enrollment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3008376"/>
            <a:ext cx="3026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request a seat; a duplicate or pending request is blocked automatically.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822960" y="3648456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24128" y="3849624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21" name="Image 3" descr="/home/claude/pptx_build/icons/wallet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941064"/>
            <a:ext cx="272948" cy="2729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24128" y="4416552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In-platform wallet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024128" y="4782312"/>
            <a:ext cx="3026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wallet handles top-ups, fee deductions, commission splits, and withdrawals.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507992" y="3648456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9160" y="3849624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26" name="Image 4" descr="/home/claude/pptx_build/icons/chart_cre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941064"/>
            <a:ext cx="272948" cy="2729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709160" y="4416552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tracking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709160" y="4782312"/>
            <a:ext cx="3026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exam scores recorded per student, exportable as PDF or Excel.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193024" y="3648456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3849624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31" name="Image 5" descr="/home/claude/pptx_build/icons/shieldcheck_crea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3941064"/>
            <a:ext cx="272948" cy="2729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94192" y="4416552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audit control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394192" y="4782312"/>
            <a:ext cx="3026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permissions, notifications, and audit logs govern every sensitive action.</a:t>
            </a:r>
            <a:endParaRPr lang="en-US" sz="980" dirty="0"/>
          </a:p>
        </p:txBody>
      </p:sp>
      <p:sp>
        <p:nvSpPr>
          <p:cNvPr id="34" name="Text 26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details, all designed on purpose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912" y="2103120"/>
            <a:ext cx="475488" cy="47548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globe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010" y="2198218"/>
            <a:ext cx="283866" cy="2838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6974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ready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54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i18next from day one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962656" y="19202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21608" y="2103120"/>
            <a:ext cx="475488" cy="47548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1" name="Image 1" descr="/home/claude/pptx_build/icons/bell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706" y="2198218"/>
            <a:ext cx="283866" cy="2838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54096" y="26974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3054096" y="3154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requests, payments &amp; grades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102352" y="19202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61304" y="2103120"/>
            <a:ext cx="475488" cy="47548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6" name="Image 2" descr="/home/claude/pptx_build/icons/award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402" y="2198218"/>
            <a:ext cx="283866" cy="2838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93792" y="26974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193792" y="3154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on course completion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7242048" y="19202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01000" y="2103120"/>
            <a:ext cx="475488" cy="47548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21" name="Image 3" descr="/home/claude/pptx_build/icons/download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098" y="2198218"/>
            <a:ext cx="283866" cy="28386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33488" y="26974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/ Excel export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7333488" y="3154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reports in under 3s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9381744" y="19202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140696" y="2103120"/>
            <a:ext cx="475488" cy="47548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26" name="Image 4" descr="/home/claude/pptx_build/icons/lock_cre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5794" y="2198218"/>
            <a:ext cx="283866" cy="28386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473184" y="26974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default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9473184" y="3154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&amp; bank data locked down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822960" y="3867912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581912" y="4050792"/>
            <a:ext cx="475488" cy="47548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31" name="Image 5" descr="/home/claude/pptx_build/icons/shieldcheck_crea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010" y="4145890"/>
            <a:ext cx="283866" cy="28386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" y="46451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914400" y="510235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sensitive action logged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2962656" y="3867912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721608" y="4050792"/>
            <a:ext cx="475488" cy="47548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36" name="Image 6" descr="/home/claude/pptx_build/icons/shield_crea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706" y="4145890"/>
            <a:ext cx="283866" cy="28386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054096" y="46451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3054096" y="510235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Teacher / Parent / Admin</a:t>
            </a:r>
            <a:endParaRPr lang="en-US" sz="800" dirty="0"/>
          </a:p>
        </p:txBody>
      </p:sp>
      <p:sp>
        <p:nvSpPr>
          <p:cNvPr id="39" name="Shape 30"/>
          <p:cNvSpPr/>
          <p:nvPr/>
        </p:nvSpPr>
        <p:spPr>
          <a:xfrm>
            <a:off x="5102352" y="3867912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861304" y="4050792"/>
            <a:ext cx="475488" cy="47548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41" name="Image 7" descr="/home/claude/pptx_build/icons/mobile_crea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6402" y="4145890"/>
            <a:ext cx="283866" cy="28386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193792" y="46451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UI</a:t>
            </a:r>
            <a:endParaRPr lang="en-US" sz="1050" dirty="0"/>
          </a:p>
        </p:txBody>
      </p:sp>
      <p:sp>
        <p:nvSpPr>
          <p:cNvPr id="43" name="Text 33"/>
          <p:cNvSpPr txBox="1"/>
          <p:nvPr/>
        </p:nvSpPr>
        <p:spPr>
          <a:xfrm>
            <a:off x="5193792" y="510235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mobile-first with Tailwind</a:t>
            </a:r>
            <a:endParaRPr lang="en-US" sz="800" dirty="0"/>
          </a:p>
        </p:txBody>
      </p:sp>
      <p:sp>
        <p:nvSpPr>
          <p:cNvPr id="44" name="Shape 34"/>
          <p:cNvSpPr/>
          <p:nvPr/>
        </p:nvSpPr>
        <p:spPr>
          <a:xfrm>
            <a:off x="7242048" y="3867912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001000" y="4050792"/>
            <a:ext cx="475488" cy="47548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46" name="Image 8" descr="/home/claude/pptx_build/icons/wallet_crea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098" y="4145890"/>
            <a:ext cx="283866" cy="28386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333488" y="46451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history</a:t>
            </a:r>
            <a:endParaRPr lang="en-US" sz="1050" dirty="0"/>
          </a:p>
        </p:txBody>
      </p:sp>
      <p:sp>
        <p:nvSpPr>
          <p:cNvPr id="48" name="Text 37"/>
          <p:cNvSpPr txBox="1"/>
          <p:nvPr/>
        </p:nvSpPr>
        <p:spPr>
          <a:xfrm>
            <a:off x="7333488" y="510235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Filterable, per-user wallet log</a:t>
            </a:r>
            <a:endParaRPr lang="en-US" sz="800" dirty="0"/>
          </a:p>
        </p:txBody>
      </p:sp>
      <p:sp>
        <p:nvSpPr>
          <p:cNvPr id="49" name="Shape 38"/>
          <p:cNvSpPr/>
          <p:nvPr/>
        </p:nvSpPr>
        <p:spPr>
          <a:xfrm>
            <a:off x="9381744" y="3867912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10140696" y="4050792"/>
            <a:ext cx="475488" cy="475488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51" name="Image 9" descr="/home/claude/pptx_build/icons/users_crea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5794" y="4145890"/>
            <a:ext cx="283866" cy="283866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9473184" y="46451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Duplicate-request guard</a:t>
            </a:r>
            <a:endParaRPr lang="en-US" sz="1050" dirty="0"/>
          </a:p>
        </p:txBody>
      </p:sp>
      <p:sp>
        <p:nvSpPr>
          <p:cNvPr id="53" name="Text 41"/>
          <p:cNvSpPr txBox="1"/>
          <p:nvPr/>
        </p:nvSpPr>
        <p:spPr>
          <a:xfrm>
            <a:off x="9473184" y="510235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 join requests possible</a:t>
            </a:r>
            <a:endParaRPr lang="en-US" sz="800" dirty="0"/>
          </a:p>
        </p:txBody>
      </p:sp>
      <p:sp>
        <p:nvSpPr>
          <p:cNvPr id="54" name="Text 42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55" name="Text 43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LOOK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student dashboard is designed to feel like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63040" y="1783080"/>
            <a:ext cx="9235440" cy="4160520"/>
          </a:xfrm>
          <a:prstGeom prst="roundRect">
            <a:avLst>
              <a:gd name="adj" fmla="val 1538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783080"/>
            <a:ext cx="9235440" cy="384048"/>
          </a:xfrm>
          <a:prstGeom prst="rect">
            <a:avLst/>
          </a:prstGeom>
          <a:solidFill>
            <a:srgbClr val="1C2C48"/>
          </a:solidFill>
          <a:ln/>
        </p:spPr>
      </p:sp>
      <p:sp>
        <p:nvSpPr>
          <p:cNvPr id="6" name="Shape 4"/>
          <p:cNvSpPr/>
          <p:nvPr/>
        </p:nvSpPr>
        <p:spPr>
          <a:xfrm>
            <a:off x="1664208" y="1924812"/>
            <a:ext cx="100584" cy="100584"/>
          </a:xfrm>
          <a:prstGeom prst="ellipse">
            <a:avLst/>
          </a:prstGeom>
          <a:solidFill>
            <a:srgbClr val="E5645B"/>
          </a:solidFill>
          <a:ln/>
        </p:spPr>
      </p:sp>
      <p:sp>
        <p:nvSpPr>
          <p:cNvPr id="7" name="Shape 5"/>
          <p:cNvSpPr/>
          <p:nvPr/>
        </p:nvSpPr>
        <p:spPr>
          <a:xfrm>
            <a:off x="1883664" y="1924812"/>
            <a:ext cx="100584" cy="100584"/>
          </a:xfrm>
          <a:prstGeom prst="ellipse">
            <a:avLst/>
          </a:prstGeom>
          <a:solidFill>
            <a:srgbClr val="E8B13F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1924812"/>
            <a:ext cx="100584" cy="100584"/>
          </a:xfrm>
          <a:prstGeom prst="ellipse">
            <a:avLst/>
          </a:prstGeom>
          <a:solidFill>
            <a:srgbClr val="4CAE6B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1856232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141F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0320" y="1856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academia.app / dashboard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63040" y="2167128"/>
            <a:ext cx="1554480" cy="3776472"/>
          </a:xfrm>
          <a:prstGeom prst="rect">
            <a:avLst/>
          </a:prstGeom>
          <a:solidFill>
            <a:srgbClr val="1C2C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2322576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CF9F3F">
              <a:alpha val="16000"/>
            </a:srgbClr>
          </a:solidFill>
          <a:ln/>
        </p:spPr>
      </p:sp>
      <p:pic>
        <p:nvPicPr>
          <p:cNvPr id="13" name="Image 0" descr="/home/claude/pptx_build/icons/dashboard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377440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947672" y="23317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pic>
        <p:nvPicPr>
          <p:cNvPr id="15" name="Image 1" descr="/home/claude/pptx_build/icons/book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285292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947672" y="28072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courses</a:t>
            </a:r>
            <a:endParaRPr lang="en-US" sz="900" dirty="0"/>
          </a:p>
        </p:txBody>
      </p:sp>
      <p:pic>
        <p:nvPicPr>
          <p:cNvPr id="17" name="Image 2" descr="/home/claude/pptx_build/icons/wallet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332841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47672" y="32826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900" dirty="0"/>
          </a:p>
        </p:txBody>
      </p:sp>
      <p:pic>
        <p:nvPicPr>
          <p:cNvPr id="19" name="Image 3" descr="/home/claude/pptx_build/icons/chart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3803904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947672" y="37581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900" dirty="0"/>
          </a:p>
        </p:txBody>
      </p:sp>
      <p:pic>
        <p:nvPicPr>
          <p:cNvPr id="21" name="Image 4" descr="/home/claude/pptx_build/icons/bell_cre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427939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947672" y="4233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3246120" y="2350008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A0F1C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3383280" y="2404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3383280" y="2807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COURSES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5715000" y="2350008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A0F1C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5852160" y="2404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5852160" y="2807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750" dirty="0"/>
          </a:p>
        </p:txBody>
      </p:sp>
      <p:sp>
        <p:nvSpPr>
          <p:cNvPr id="29" name="Shape 22"/>
          <p:cNvSpPr/>
          <p:nvPr/>
        </p:nvSpPr>
        <p:spPr>
          <a:xfrm>
            <a:off x="8183880" y="2350008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A0F1C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321040" y="2404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8321040" y="2807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</a:t>
            </a:r>
            <a:endParaRPr lang="en-US" sz="750" dirty="0"/>
          </a:p>
        </p:txBody>
      </p:sp>
      <p:sp>
        <p:nvSpPr>
          <p:cNvPr id="32" name="Shape 25"/>
          <p:cNvSpPr/>
          <p:nvPr/>
        </p:nvSpPr>
        <p:spPr>
          <a:xfrm>
            <a:off x="3246120" y="3291840"/>
            <a:ext cx="2286000" cy="1417320"/>
          </a:xfrm>
          <a:prstGeom prst="roundRect">
            <a:avLst>
              <a:gd name="adj" fmla="val 3871"/>
            </a:avLst>
          </a:prstGeom>
          <a:solidFill>
            <a:srgbClr val="0A0F1C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355848" y="3401568"/>
            <a:ext cx="2066544" cy="502920"/>
          </a:xfrm>
          <a:prstGeom prst="roundRect">
            <a:avLst>
              <a:gd name="adj" fmla="val 9091"/>
            </a:avLst>
          </a:prstGeom>
          <a:solidFill>
            <a:srgbClr val="3FA295">
              <a:alpha val="45000"/>
            </a:srgbClr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338328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Algebra II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3383280" y="4233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Ustadh Samir · Mon/Wed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5715000" y="3291840"/>
            <a:ext cx="2286000" cy="1417320"/>
          </a:xfrm>
          <a:prstGeom prst="roundRect">
            <a:avLst>
              <a:gd name="adj" fmla="val 3871"/>
            </a:avLst>
          </a:prstGeom>
          <a:solidFill>
            <a:srgbClr val="0A0F1C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824728" y="3401568"/>
            <a:ext cx="2066544" cy="502920"/>
          </a:xfrm>
          <a:prstGeom prst="roundRect">
            <a:avLst>
              <a:gd name="adj" fmla="val 9091"/>
            </a:avLst>
          </a:prstGeom>
          <a:solidFill>
            <a:srgbClr val="CF9F3F">
              <a:alpha val="45000"/>
            </a:srgbClr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585216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Writing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5852160" y="4233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Lina · Sun/Tue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8183880" y="3291840"/>
            <a:ext cx="2286000" cy="1417320"/>
          </a:xfrm>
          <a:prstGeom prst="roundRect">
            <a:avLst>
              <a:gd name="adj" fmla="val 3871"/>
            </a:avLst>
          </a:prstGeom>
          <a:solidFill>
            <a:srgbClr val="0A0F1C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293608" y="3401568"/>
            <a:ext cx="2066544" cy="502920"/>
          </a:xfrm>
          <a:prstGeom prst="roundRect">
            <a:avLst>
              <a:gd name="adj" fmla="val 9091"/>
            </a:avLst>
          </a:prstGeom>
          <a:solidFill>
            <a:srgbClr val="D98368">
              <a:alpha val="45000"/>
            </a:srgbClr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832104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Lab</a:t>
            </a:r>
            <a:endParaRPr lang="en-US" sz="1050" dirty="0"/>
          </a:p>
        </p:txBody>
      </p:sp>
      <p:sp>
        <p:nvSpPr>
          <p:cNvPr id="43" name="Text 36"/>
          <p:cNvSpPr txBox="1"/>
          <p:nvPr/>
        </p:nvSpPr>
        <p:spPr>
          <a:xfrm>
            <a:off x="8321040" y="4233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Fadi · Thu</a:t>
            </a:r>
            <a:endParaRPr lang="en-US" sz="800" dirty="0"/>
          </a:p>
        </p:txBody>
      </p:sp>
      <p:sp>
        <p:nvSpPr>
          <p:cNvPr id="44" name="Text 37"/>
          <p:cNvSpPr txBox="1"/>
          <p:nvPr/>
        </p:nvSpPr>
        <p:spPr>
          <a:xfrm>
            <a:off x="1463040" y="608076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illustration of the planned UI — not a live product screenshot.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join request to teacher payout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956816" cy="1965960"/>
          </a:xfrm>
          <a:prstGeom prst="roundRect">
            <a:avLst>
              <a:gd name="adj" fmla="val 420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212848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users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04288"/>
            <a:ext cx="272948" cy="2729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27797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Request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3145536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a join request for a course.</a:t>
            </a:r>
            <a:endParaRPr lang="en-US" sz="880" dirty="0"/>
          </a:p>
        </p:txBody>
      </p:sp>
      <p:sp>
        <p:nvSpPr>
          <p:cNvPr id="9" name="Text 6"/>
          <p:cNvSpPr txBox="1"/>
          <p:nvPr/>
        </p:nvSpPr>
        <p:spPr>
          <a:xfrm>
            <a:off x="2788920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980944" y="2011680"/>
            <a:ext cx="1956816" cy="1965960"/>
          </a:xfrm>
          <a:prstGeom prst="roundRect">
            <a:avLst>
              <a:gd name="adj" fmla="val 420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82112" y="2212848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2" name="Image 1" descr="/home/claude/pptx_build/icons/shieldcheck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2304288"/>
            <a:ext cx="272948" cy="2729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82112" y="27797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Approve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182112" y="3145536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approves — low balance blocks it automatically.</a:t>
            </a:r>
            <a:endParaRPr lang="en-US" sz="880" dirty="0"/>
          </a:p>
        </p:txBody>
      </p:sp>
      <p:sp>
        <p:nvSpPr>
          <p:cNvPr id="15" name="Text 11"/>
          <p:cNvSpPr txBox="1"/>
          <p:nvPr/>
        </p:nvSpPr>
        <p:spPr>
          <a:xfrm>
            <a:off x="4946904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138928" y="2011680"/>
            <a:ext cx="1956816" cy="1965960"/>
          </a:xfrm>
          <a:prstGeom prst="roundRect">
            <a:avLst>
              <a:gd name="adj" fmla="val 420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40096" y="2212848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8" name="Image 2" descr="/home/claude/pptx_build/icons/wallet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2304288"/>
            <a:ext cx="272948" cy="2729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40096" y="27797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Deduct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340096" y="3145536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 is deducted from the student's wallet, atomically.</a:t>
            </a:r>
            <a:endParaRPr lang="en-US" sz="880" dirty="0"/>
          </a:p>
        </p:txBody>
      </p:sp>
      <p:sp>
        <p:nvSpPr>
          <p:cNvPr id="21" name="Text 16"/>
          <p:cNvSpPr txBox="1"/>
          <p:nvPr/>
        </p:nvSpPr>
        <p:spPr>
          <a:xfrm>
            <a:off x="7104888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296912" y="2011680"/>
            <a:ext cx="1956816" cy="1965960"/>
          </a:xfrm>
          <a:prstGeom prst="roundRect">
            <a:avLst>
              <a:gd name="adj" fmla="val 420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0" y="221284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24" name="Image 3" descr="/home/claude/pptx_build/icons/split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304288"/>
            <a:ext cx="272948" cy="2729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98080" y="27797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Split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498080" y="3145536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is calculated and logged to the ledger.</a:t>
            </a:r>
            <a:endParaRPr lang="en-US" sz="880" dirty="0"/>
          </a:p>
        </p:txBody>
      </p:sp>
      <p:sp>
        <p:nvSpPr>
          <p:cNvPr id="27" name="Text 21"/>
          <p:cNvSpPr txBox="1"/>
          <p:nvPr/>
        </p:nvSpPr>
        <p:spPr>
          <a:xfrm>
            <a:off x="9262872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454896" y="2011680"/>
            <a:ext cx="1956816" cy="1965960"/>
          </a:xfrm>
          <a:prstGeom prst="roundRect">
            <a:avLst>
              <a:gd name="adj" fmla="val 420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656064" y="221284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30" name="Image 4" descr="/home/claude/pptx_build/icons/bank_cre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4" y="2304288"/>
            <a:ext cx="272948" cy="27294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56064" y="27797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Pay out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656064" y="3145536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teacher's wallet is credited net of commission.</a:t>
            </a:r>
            <a:endParaRPr lang="en-US" sz="880" dirty="0"/>
          </a:p>
        </p:txBody>
      </p:sp>
      <p:sp>
        <p:nvSpPr>
          <p:cNvPr id="33" name="Text 26"/>
          <p:cNvSpPr txBox="1"/>
          <p:nvPr/>
        </p:nvSpPr>
        <p:spPr>
          <a:xfrm>
            <a:off x="82296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 and 4 are one atomic transaction — the fee deduction and the teacher's net credit succeed or fail together, so wallet balances and the revenue ledger never drift apart.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COMMISSION ENGINE, IN DETAIL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enrollment fee splits automatically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split on a course fee, at the platform's active commission rate: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9875520" cy="502920"/>
          </a:xfrm>
          <a:prstGeom prst="roundRect">
            <a:avLst>
              <a:gd name="adj" fmla="val 49091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7900416" cy="502920"/>
          </a:xfrm>
          <a:prstGeom prst="roundRect">
            <a:avLst>
              <a:gd name="adj" fmla="val 49091"/>
            </a:avLst>
          </a:prstGeom>
          <a:solidFill>
            <a:srgbClr val="9AD9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240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receives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9875520" cy="502920"/>
          </a:xfrm>
          <a:prstGeom prst="roundRect">
            <a:avLst>
              <a:gd name="adj" fmla="val 49091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880360"/>
            <a:ext cx="1975104" cy="502920"/>
          </a:xfrm>
          <a:prstGeom prst="roundRect">
            <a:avLst>
              <a:gd name="adj" fmla="val 49091"/>
            </a:avLst>
          </a:prstGeom>
          <a:solidFill>
            <a:srgbClr val="E9C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commission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enrollment fee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148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is admin-configurable between 0-100%, never hard-coded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rate change is logged with admin ID and timestamp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41148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rate is archived, not overwritten — full audit history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and teacher credit post as a single atomic transaction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like a platform, not a prototype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956816"/>
            <a:ext cx="493776" cy="493776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monitor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055571"/>
            <a:ext cx="294784" cy="294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110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 + TypeScript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40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· TanStack Router/Start · Tailwind</a:t>
            </a:r>
            <a:endParaRPr lang="en-US" sz="98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624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288036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3054096"/>
            <a:ext cx="493776" cy="493776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2" name="Image 1" descr="/home/claude/pptx_build/icons/server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" y="3152851"/>
            <a:ext cx="294784" cy="2947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008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API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DTOs · JWT auth · RBAC</a:t>
            </a:r>
            <a:endParaRPr lang="en-US" sz="98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7216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22960" y="397764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05840" y="4151376"/>
            <a:ext cx="493776" cy="493776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8" name="Image 2" descr="/home/claude/pptx_build/icons/layers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4250131"/>
            <a:ext cx="294784" cy="2947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4105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4434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· Enrollment · Academic rules</a:t>
            </a:r>
            <a:endParaRPr lang="en-US" sz="980" dirty="0"/>
          </a:p>
        </p:txBody>
      </p:sp>
      <p:sp>
        <p:nvSpPr>
          <p:cNvPr id="21" name="Text 16"/>
          <p:cNvSpPr txBox="1"/>
          <p:nvPr/>
        </p:nvSpPr>
        <p:spPr>
          <a:xfrm>
            <a:off x="3474720" y="48188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22960" y="507492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5840" y="5248656"/>
            <a:ext cx="493776" cy="493776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24" name="Image 3" descr="/home/claude/pptx_build/icons/database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" y="5347411"/>
            <a:ext cx="294784" cy="29478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45920" y="52029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 Core + SQL database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645920" y="5532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· Transactions · Audit logs</a:t>
            </a:r>
            <a:endParaRPr lang="en-US" sz="980" dirty="0"/>
          </a:p>
        </p:txBody>
      </p:sp>
      <p:sp>
        <p:nvSpPr>
          <p:cNvPr id="27" name="Text 21"/>
          <p:cNvSpPr txBox="1"/>
          <p:nvPr/>
        </p:nvSpPr>
        <p:spPr>
          <a:xfrm>
            <a:off x="6812280" y="210312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separation: Data · Core · Infrastructure · API · Web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sensitive field returned through role-aware DTOs, never raw entities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dependency injection for testable, swappable services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exception handling and Serilog-based logging across the API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parts users never see, but always feel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12140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shield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212848"/>
            <a:ext cx="272948" cy="2729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2688336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3054096"/>
            <a:ext cx="2203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page, action, and field is governed by explicit permissions, enforced at the API and service layer.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30168" y="192024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31336" y="212140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11" name="Image 1" descr="/home/claude/pptx_build/icons/split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2212848"/>
            <a:ext cx="272948" cy="2729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831336" y="2688336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atomicity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831336" y="3054096"/>
            <a:ext cx="2203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deductions, commission splits, and ledger writes commit together or not at all.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37376" y="192024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38544" y="212140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16" name="Image 2" descr="/home/claude/pptx_build/icons/shieldcheck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212848"/>
            <a:ext cx="272948" cy="2729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38544" y="2688336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638544" y="3054096"/>
            <a:ext cx="2203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changes, payments, and deletions all produce persistent, reviewable audit records.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244584" y="192024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45752" y="212140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21" name="Image 3" descr="/home/claude/pptx_build/icons/lock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2212848"/>
            <a:ext cx="272948" cy="2729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45752" y="2688336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integrity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9445752" y="3054096"/>
            <a:ext cx="2203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deletion preserves history while safely freeing up unique fields for reuse.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4526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and bank details are protected behind authorization checks by default — never publicly accessible. The team also runs internal service-layer audits before scaling to new modules.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discipline — and honest about the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937760" cy="2788920"/>
          </a:xfrm>
          <a:prstGeom prst="roundRect">
            <a:avLst>
              <a:gd name="adj" fmla="val 2951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320" y="1783080"/>
            <a:ext cx="4937760" cy="2788920"/>
          </a:xfrm>
          <a:prstGeom prst="roundRect">
            <a:avLst>
              <a:gd name="adj" fmla="val 2951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NEXT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42316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 control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page, module, and permission management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constants and configuration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42316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lesson, and exam API contracts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and certificate delivery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 end to end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92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show a jury a real, honestly-labeled build status than a polished demo that overstates where the product is. That discipline is deliberate.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earn only when a teacher earns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Academia's revenue engine is a transparent, admin-configurable commission on every paid enrollment that moves through the platform wallet — recorded to a dedicated revenue ledger every step of the way.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420624" cy="420624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bank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3330245"/>
            <a:ext cx="251113" cy="25111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3218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Top-up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3474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bank transfer into the wallet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2960" y="3931920"/>
            <a:ext cx="420624" cy="420624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0" name="Image 1" descr="/home/claude/pptx_build/icons/users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5" y="4016045"/>
            <a:ext cx="251113" cy="25111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3904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4160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deducted, commission calculated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22960" y="4617720"/>
            <a:ext cx="420624" cy="420624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4" name="Image 2" descr="/home/claude/pptx_build/icons/handshake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4701845"/>
            <a:ext cx="251113" cy="25111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Payout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4846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withdraws net earnings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355080" y="1783080"/>
            <a:ext cx="5029200" cy="3520440"/>
          </a:xfrm>
          <a:prstGeom prst="roundRect">
            <a:avLst>
              <a:gd name="adj" fmla="val 2338"/>
            </a:avLst>
          </a:prstGeom>
          <a:solidFill>
            <a:srgbClr val="F5F2EA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6675120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commission, not a subscription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6675120" y="242316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2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pay nothing to list a course — zero upfront risk to join.
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2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only earns when a real, paid enrollment happens.
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2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commission is logged in a ledger both sides can audit.
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2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platform growth directly with teacher and student success.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675120" y="4251960"/>
            <a:ext cx="3017520" cy="365760"/>
          </a:xfrm>
          <a:prstGeom prst="roundRect">
            <a:avLst>
              <a:gd name="adj" fmla="val 45000"/>
            </a:avLst>
          </a:prstGeom>
          <a:solidFill>
            <a:srgbClr val="2A2213"/>
          </a:solidFill>
          <a:ln w="12700">
            <a:solidFill>
              <a:srgbClr val="CF9F3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675120" y="4251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ENROLLMENT COMMISSION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675120" y="4709160"/>
            <a:ext cx="2743200" cy="365760"/>
          </a:xfrm>
          <a:prstGeom prst="roundRect">
            <a:avLst>
              <a:gd name="adj" fmla="val 45000"/>
            </a:avLst>
          </a:prstGeom>
          <a:solidFill>
            <a:srgbClr val="1C2C48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67512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PREMIUM PLACEMENT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9555480" y="4709160"/>
            <a:ext cx="1828800" cy="365760"/>
          </a:xfrm>
          <a:prstGeom prst="roundRect">
            <a:avLst>
              <a:gd name="adj" fmla="val 45000"/>
            </a:avLst>
          </a:prstGeom>
          <a:solidFill>
            <a:srgbClr val="1C2C48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55548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TEACHER ANALYTICS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THE FRAMEWORK, NOT A FORECAST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enrollment turns into revenue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07568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users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167128"/>
            <a:ext cx="272948" cy="2729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2642616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3008376"/>
            <a:ext cx="2203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paid join requests approved through the wallet in a period.</a:t>
            </a:r>
            <a:endParaRPr lang="en-US" sz="930" dirty="0"/>
          </a:p>
        </p:txBody>
      </p:sp>
      <p:sp>
        <p:nvSpPr>
          <p:cNvPr id="9" name="Text 6"/>
          <p:cNvSpPr txBox="1"/>
          <p:nvPr/>
        </p:nvSpPr>
        <p:spPr>
          <a:xfrm>
            <a:off x="3438144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99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630168" y="18745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31336" y="207568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12" name="Image 1" descr="/home/claude/pptx_build/icons/wallet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2167128"/>
            <a:ext cx="272948" cy="2729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831336" y="2642616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Average fee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831336" y="3008376"/>
            <a:ext cx="2203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or session price the student pays, set by each teacher.</a:t>
            </a:r>
            <a:endParaRPr lang="en-US" sz="930" dirty="0"/>
          </a:p>
        </p:txBody>
      </p:sp>
      <p:sp>
        <p:nvSpPr>
          <p:cNvPr id="15" name="Text 11"/>
          <p:cNvSpPr txBox="1"/>
          <p:nvPr/>
        </p:nvSpPr>
        <p:spPr>
          <a:xfrm>
            <a:off x="6245352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99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437376" y="18745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638544" y="207568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18" name="Image 2" descr="/home/claude/pptx_build/icons/split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167128"/>
            <a:ext cx="272948" cy="2729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38544" y="2642616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Commission %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638544" y="3008376"/>
            <a:ext cx="2203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admin-configurable platform rate applied at the moment of deduction.</a:t>
            </a:r>
            <a:endParaRPr lang="en-US" sz="930" dirty="0"/>
          </a:p>
        </p:txBody>
      </p:sp>
      <p:sp>
        <p:nvSpPr>
          <p:cNvPr id="21" name="Text 16"/>
          <p:cNvSpPr txBox="1"/>
          <p:nvPr/>
        </p:nvSpPr>
        <p:spPr>
          <a:xfrm>
            <a:off x="905256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99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9244584" y="18745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445752" y="207568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24" name="Image 3" descr="/home/claude/pptx_build/icons/chart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2167128"/>
            <a:ext cx="272948" cy="2729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445752" y="2642616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Platform revenue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9445752" y="3008376"/>
            <a:ext cx="2203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automatically to the revenue ledger — no separate invoicing step.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822960" y="4160520"/>
            <a:ext cx="10104120" cy="1691640"/>
          </a:xfrm>
          <a:prstGeom prst="roundRect">
            <a:avLst>
              <a:gd name="adj" fmla="val 4865"/>
            </a:avLst>
          </a:prstGeom>
          <a:solidFill>
            <a:srgbClr val="F5F2EA"/>
          </a:solidFill>
          <a:ln/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1143000" y="437083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we're showing a formula, not a forecast</a:t>
            </a:r>
            <a:endParaRPr lang="en-US" sz="145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470916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have real enrollment volume yet — the platform hasn't launched, so any revenue number today would be invented, not measured. What's real is the mechanism above: near-zero marginal cost per transaction, revenue that scales directly with enrollments rather than headcount, and a cost base that grows far more slowly than transaction volume once the payment gateway replaces manual bank-transfer checks.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3FA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category, not a feature race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61320" cy="3566160"/>
        </p:xfrm>
        <a:graphic>
          <a:graphicData uri="http://schemas.openxmlformats.org/drawingml/2006/table">
            <a:tbl>
              <a:tblPr/>
              <a:tblGrid>
                <a:gridCol w="1965960"/>
                <a:gridCol w="2834640"/>
                <a:gridCol w="2834640"/>
                <a:gridCol w="29260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Classroom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Udemy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for organizing closed 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asynchronous course marketplace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marketplace + integrated LMS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 — needs a link or access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catalog, global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of courses &amp; teachers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Entirely external — not supported by the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processor, one-time purchase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Unified, secure in-platform wallet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email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activity &amp; payments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&amp; exams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 for live, attended 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academic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 row translated directly from Academia's own comparison sheet; Udemy row per the same team's competitive notes.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a "course tool" doesn't have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121408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search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212848"/>
            <a:ext cx="272948" cy="2729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2688336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marketplace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3054096"/>
            <a:ext cx="47183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find teachers by browsing, not by receiving a private link.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99632" y="19202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21408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1" name="Image 1" descr="/home/claude/pptx_build/icons/wallet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12848"/>
            <a:ext cx="272948" cy="2729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0" y="2688336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that just works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3054096"/>
            <a:ext cx="47183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wallet handles every teacher's fees — nothing to chase or reconcile.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" y="3950208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24128" y="4151376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6" name="Image 2" descr="/home/claude/pptx_build/icons/shield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242816"/>
            <a:ext cx="272948" cy="2729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24128" y="4718304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Parents, included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024128" y="5084064"/>
            <a:ext cx="47183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results, and spend are visible to who is often actually paying.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99632" y="3950208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151376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21" name="Image 3" descr="/home/claude/pptx_build/icons/chart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242816"/>
            <a:ext cx="272948" cy="2729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00800" y="4718304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to get smarter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5084064"/>
            <a:ext cx="47183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content and exam history already live in one place — ready for AI, planned for a later release.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OUT LOUD, NOT WAITING TO BE ASKED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real risks, and how we're handling each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057400"/>
            <a:ext cx="457200" cy="457200"/>
          </a:xfrm>
          <a:prstGeom prst="ellipse">
            <a:avLst/>
          </a:prstGeom>
          <a:solidFill>
            <a:srgbClr val="D98368">
              <a:alpha val="18000"/>
            </a:srgbClr>
          </a:solidFill>
          <a:ln w="12700">
            <a:solidFill>
              <a:srgbClr val="D98368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split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148840"/>
            <a:ext cx="272948" cy="2729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939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Disintermediation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2651760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teacher/student could transact outside the platform to avoid commission.</a:t>
            </a:r>
            <a:endParaRPr lang="en-US" sz="98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3172968"/>
            <a:ext cx="4718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the wallet, attendance record, and parent dashboard are workflow value a side deal can't replicate.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99632" y="187452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2057400"/>
            <a:ext cx="457200" cy="457200"/>
          </a:xfrm>
          <a:prstGeom prst="ellipse">
            <a:avLst/>
          </a:prstGeom>
          <a:solidFill>
            <a:srgbClr val="D98368">
              <a:alpha val="18000"/>
            </a:srgbClr>
          </a:solidFill>
          <a:ln w="12700">
            <a:solidFill>
              <a:srgbClr val="D98368">
                <a:alpha val="45000"/>
              </a:srgbClr>
            </a:solidFill>
            <a:prstDash val="solid"/>
          </a:ln>
        </p:spPr>
      </p:sp>
      <p:pic>
        <p:nvPicPr>
          <p:cNvPr id="12" name="Image 1" descr="/home/claude/pptx_build/icons/bank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48840"/>
            <a:ext cx="272948" cy="2729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76872" y="20939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Manual-transfer fraud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2651760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top-up relies on a human checking a bank receipt.</a:t>
            </a:r>
            <a:endParaRPr lang="en-US" sz="98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3172968"/>
            <a:ext cx="4718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every verification is logged with an admin ID; a payment gateway closes this gap next.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22960" y="4041648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24128" y="4224528"/>
            <a:ext cx="457200" cy="457200"/>
          </a:xfrm>
          <a:prstGeom prst="ellipse">
            <a:avLst/>
          </a:prstGeom>
          <a:solidFill>
            <a:srgbClr val="D98368">
              <a:alpha val="18000"/>
            </a:srgbClr>
          </a:solidFill>
          <a:ln w="12700">
            <a:solidFill>
              <a:srgbClr val="D98368">
                <a:alpha val="45000"/>
              </a:srgbClr>
            </a:solidFill>
            <a:prstDash val="solid"/>
          </a:ln>
        </p:spPr>
      </p:sp>
      <p:pic>
        <p:nvPicPr>
          <p:cNvPr id="18" name="Image 2" descr="/home/claude/pptx_build/icons/users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15968"/>
            <a:ext cx="272948" cy="2729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00200" y="426110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Chicken-and-egg supply/demand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024128" y="4818888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students without teachers, no teachers without students.</a:t>
            </a:r>
            <a:endParaRPr lang="en-US" sz="980" dirty="0"/>
          </a:p>
        </p:txBody>
      </p:sp>
      <p:sp>
        <p:nvSpPr>
          <p:cNvPr id="21" name="Text 16"/>
          <p:cNvSpPr txBox="1"/>
          <p:nvPr/>
        </p:nvSpPr>
        <p:spPr>
          <a:xfrm>
            <a:off x="1024128" y="5340096"/>
            <a:ext cx="4718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we seed supply first — free tools for early teachers whose students migrate in.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199632" y="4041648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00800" y="4224528"/>
            <a:ext cx="457200" cy="457200"/>
          </a:xfrm>
          <a:prstGeom prst="ellipse">
            <a:avLst/>
          </a:prstGeom>
          <a:solidFill>
            <a:srgbClr val="D98368">
              <a:alpha val="18000"/>
            </a:srgbClr>
          </a:solidFill>
          <a:ln w="12700">
            <a:solidFill>
              <a:srgbClr val="D98368">
                <a:alpha val="45000"/>
              </a:srgbClr>
            </a:solidFill>
            <a:prstDash val="solid"/>
          </a:ln>
        </p:spPr>
      </p:sp>
      <p:pic>
        <p:nvPicPr>
          <p:cNvPr id="24" name="Image 3" descr="/home/claude/pptx_build/icons/shield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315968"/>
            <a:ext cx="272948" cy="2729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76872" y="426110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funded competitor moves faster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6400800" y="4818888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 Academy or Orcas could extend toward our model.</a:t>
            </a:r>
            <a:endParaRPr lang="en-US" sz="980" dirty="0"/>
          </a:p>
        </p:txBody>
      </p:sp>
      <p:sp>
        <p:nvSpPr>
          <p:cNvPr id="27" name="Text 21"/>
          <p:cNvSpPr txBox="1"/>
          <p:nvPr/>
        </p:nvSpPr>
        <p:spPr>
          <a:xfrm>
            <a:off x="6400800" y="5340096"/>
            <a:ext cx="4718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neither is built around wallet + ledger + parent dashboard + tracking together.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STUDENTS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student signs up — and stays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need another app to check. They need one place where finding a teacher, paying safely, and seeing their own progress finally fit together.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365760" cy="36576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check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1856232"/>
            <a:ext cx="218359" cy="2183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995160" y="172821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before you commit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teachers, subjects, and prices in one catalog instead of asking around.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92240" y="2834640"/>
            <a:ext cx="365760" cy="36576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9" name="Image 1" descr="/home/claude/pptx_build/icons/check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907792"/>
            <a:ext cx="218359" cy="21835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95160" y="277977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once, use everywhere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wallet covers every course, no separate transfer per teacher.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92240" y="3886200"/>
            <a:ext cx="365760" cy="36576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2" name="Image 2" descr="/home/claude/pptx_build/icons/check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959352"/>
            <a:ext cx="218359" cy="21835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995160" y="383133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own progress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exam results live in your account, not a teacher's notebook.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492240" y="4937760"/>
            <a:ext cx="365760" cy="36576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5" name="Image 3" descr="/home/claude/pptx_build/icons/check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5010912"/>
            <a:ext cx="218359" cy="21835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995160" y="48828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not guesswork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is confirmed, blocked from duplicating, and receipted.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TEACHERS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"Why should I give up a cut of my fee?"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20640" cy="2331720"/>
          </a:xfrm>
          <a:prstGeom prst="roundRect">
            <a:avLst>
              <a:gd name="adj" fmla="val 3529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12140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split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212848"/>
            <a:ext cx="272948" cy="2729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2688336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teacher gives up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3054096"/>
            <a:ext cx="47183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admin-governed commission — calculated and logged automatically on every enrollment fee that clears through the wallet. Never a fixed lock-in, always visible in the ledger.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99632" y="1920240"/>
            <a:ext cx="5120640" cy="2331720"/>
          </a:xfrm>
          <a:prstGeom prst="roundRect">
            <a:avLst>
              <a:gd name="adj" fmla="val 3529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121408"/>
            <a:ext cx="457200" cy="457200"/>
          </a:xfrm>
          <a:prstGeom prst="ellipse">
            <a:avLst/>
          </a:prstGeom>
          <a:solidFill>
            <a:srgbClr val="3FA295">
              <a:alpha val="18000"/>
            </a:srgbClr>
          </a:solidFill>
          <a:ln w="12700">
            <a:solidFill>
              <a:srgbClr val="3FA295">
                <a:alpha val="45000"/>
              </a:srgbClr>
            </a:solidFill>
            <a:prstDash val="solid"/>
          </a:ln>
        </p:spPr>
      </p:sp>
      <p:pic>
        <p:nvPicPr>
          <p:cNvPr id="11" name="Image 1" descr="/home/claude/pptx_build/icons/handshake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12848"/>
            <a:ext cx="272948" cy="2729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0" y="2724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teacher gets back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310896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3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students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3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discovered through the marketplace, not just their existing circle.
</a:t>
            </a:r>
            <a:endParaRPr lang="en-US" sz="103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3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collection hassle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3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chasing transfers or reconciling who paid.
</a:t>
            </a:r>
            <a:endParaRPr lang="en-US" sz="103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3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dashboard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3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join requests, rosters, and payouts, all in one place.</a:t>
            </a:r>
            <a:endParaRPr lang="en-US" sz="103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is simple: the commission is the price of demand generation and automated, verified collection — work every independent teacher currently does themselves, for free, badly.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12-week build, then what's next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 SPRINT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02336" cy="402336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6" name="Image 0" descr="/home/claude/pptx_build/icons/lock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2229307"/>
            <a:ext cx="240195" cy="24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09397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3042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5786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SRS, user stories, auth &amp; RBAC.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822960" y="3081528"/>
            <a:ext cx="402336" cy="402336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11" name="Image 1" descr="/home/claude/pptx_build/icons/book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" y="3161995"/>
            <a:ext cx="240195" cy="24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30266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3-6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3236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enrollment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35112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courses, join requests.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822960" y="4014216"/>
            <a:ext cx="402336" cy="402336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16" name="Image 2" descr="/home/claude/pptx_build/icons/wallet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4094683"/>
            <a:ext cx="240195" cy="24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9593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6-9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169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&amp; academics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371600" y="44439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Top-ups, commission split, attendance, exams.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822960" y="4946904"/>
            <a:ext cx="402336" cy="402336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21" name="Image 3" descr="/home/claude/pptx_build/icons/rocket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" y="5027371"/>
            <a:ext cx="240195" cy="24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4892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9-12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1371600" y="5102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Polish &amp; launch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371600" y="5376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QA, and go-live.</a:t>
            </a:r>
            <a:endParaRPr lang="en-US" sz="980" dirty="0"/>
          </a:p>
        </p:txBody>
      </p:sp>
      <p:sp>
        <p:nvSpPr>
          <p:cNvPr id="25" name="Text 19"/>
          <p:cNvSpPr txBox="1"/>
          <p:nvPr/>
        </p:nvSpPr>
        <p:spPr>
          <a:xfrm>
            <a:off x="63093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6309360" y="21488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online payment gateway, alongside verified bank transfer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assistant for lesson materials (summaries, flashcards, Q&amp;A)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practice quizzes from uploaded course content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performance alerts for parents and teachers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A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engineers, one supervisor, one shared build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359152"/>
            <a:ext cx="548640" cy="548640"/>
          </a:xfrm>
          <a:prstGeom prst="ellipse">
            <a:avLst/>
          </a:prstGeom>
          <a:solidFill>
            <a:srgbClr val="9AD9C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00784" y="2359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Rebhi Ibrahim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700784" y="2651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07992" y="2103120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359152"/>
            <a:ext cx="548640" cy="548640"/>
          </a:xfrm>
          <a:prstGeom prst="ellipse">
            <a:avLst/>
          </a:prstGeom>
          <a:solidFill>
            <a:srgbClr val="9AD9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85816" y="2359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Ziad Alnumailat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385816" y="2651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platform engineering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93024" y="2103120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2359152"/>
            <a:ext cx="548640" cy="548640"/>
          </a:xfrm>
          <a:prstGeom prst="ellipse">
            <a:avLst/>
          </a:prstGeom>
          <a:solidFill>
            <a:srgbClr val="9AD9C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70848" y="2359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Ahmed Alkhaldi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070848" y="2651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engineer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3520440"/>
            <a:ext cx="3566160" cy="384048"/>
          </a:xfrm>
          <a:prstGeom prst="roundRect">
            <a:avLst>
              <a:gd name="adj" fmla="val 42857"/>
            </a:avLst>
          </a:prstGeom>
          <a:solidFill>
            <a:srgbClr val="1C2C48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520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HAMZA ABU JARAD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26280" y="3520440"/>
            <a:ext cx="3566160" cy="384048"/>
          </a:xfrm>
          <a:prstGeom prst="roundRect">
            <a:avLst>
              <a:gd name="adj" fmla="val 42857"/>
            </a:avLst>
          </a:prstGeom>
          <a:solidFill>
            <a:srgbClr val="2A2213"/>
          </a:solidFill>
          <a:ln w="12700">
            <a:solidFill>
              <a:srgbClr val="CF9F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3520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THROUGH TAQAT · CODEMAP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INVESTOR &amp; JURY BRIEFING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362895" y="6400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25196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1C2C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funding unlocks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02996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7" name="Image 0" descr="/home/claude/pptx_build/icons/layers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121408"/>
            <a:ext cx="272948" cy="2729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4128" y="2596896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the core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2962656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course, enrollment, and certificate APIs already designed and scheduled.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07992" y="182880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02996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12" name="Image 1" descr="/home/claude/pptx_build/icons/bank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121408"/>
            <a:ext cx="272948" cy="2729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09160" y="2596896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payments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2962656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top-ups and withdrawals to an integrated payment gateway.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93024" y="182880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41F34"/>
          </a:solidFill>
          <a:ln w="12700">
            <a:solidFill>
              <a:srgbClr val="2A3A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029968"/>
            <a:ext cx="457200" cy="457200"/>
          </a:xfrm>
          <a:prstGeom prst="ellipse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5000"/>
              </a:srgbClr>
            </a:solidFill>
            <a:prstDash val="solid"/>
          </a:ln>
        </p:spPr>
      </p:sp>
      <p:pic>
        <p:nvPicPr>
          <p:cNvPr id="17" name="Image 2" descr="/home/claude/pptx_build/icons/chart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121408"/>
            <a:ext cx="272948" cy="2729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94192" y="2596896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AI layer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394192" y="2962656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existing lesson and performance data into study assistance and alerts.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3794760"/>
            <a:ext cx="8961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not asking you to fund an idea. We're asking you to fund the </a:t>
            </a:r>
            <a:pPr indent="0" marL="0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E9C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stage</a:t>
            </a:r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a system that's already designed, partly built, and honest about the road ahead.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822960" y="5806440"/>
            <a:ext cx="1673352" cy="365760"/>
          </a:xfrm>
          <a:prstGeom prst="roundRect">
            <a:avLst>
              <a:gd name="adj" fmla="val 45000"/>
            </a:avLst>
          </a:prstGeom>
          <a:solidFill>
            <a:srgbClr val="2A2213"/>
          </a:solidFill>
          <a:ln w="12700">
            <a:solidFill>
              <a:srgbClr val="CF9F3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8064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C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team@academia.app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0" y="5806440"/>
            <a:ext cx="1261872" cy="365760"/>
          </a:xfrm>
          <a:prstGeom prst="roundRect">
            <a:avLst>
              <a:gd name="adj" fmla="val 45000"/>
            </a:avLst>
          </a:prstGeom>
          <a:solidFill>
            <a:srgbClr val="1C2C48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200400" y="580644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academia.app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800600" y="5806440"/>
            <a:ext cx="2496312" cy="365760"/>
          </a:xfrm>
          <a:prstGeom prst="roundRect">
            <a:avLst>
              <a:gd name="adj" fmla="val 45000"/>
            </a:avLst>
          </a:prstGeom>
          <a:solidFill>
            <a:srgbClr val="1C2C48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800600" y="580644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@academia — TAQAT · CodeMap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Academia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362895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— Investor Pitch Deck</dc:title>
  <dc:subject>PptxGenJS Presentation</dc:subject>
  <dc:creator>Academia</dc:creator>
  <cp:lastModifiedBy>Academia</cp:lastModifiedBy>
  <cp:revision>1</cp:revision>
  <dcterms:created xsi:type="dcterms:W3CDTF">2026-09-07T04:41:13Z</dcterms:created>
  <dcterms:modified xsi:type="dcterms:W3CDTF">2026-09-07T04:41:13Z</dcterms:modified>
</cp:coreProperties>
</file>