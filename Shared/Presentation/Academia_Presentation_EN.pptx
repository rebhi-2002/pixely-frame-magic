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energy: introduce Academia in one line — a business tool for tutors, not another study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Paint the pain from the teacher's side first — this sets up why the whole platform is teacher-first.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student/parent side quickly — keep it brief, the teacher problem is the emotional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positioning statement — read the quote slowly, it's the one line judges should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7 steps fast — this is familiar territory, don't over-explain.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product — slow down here, this is what makes Academia a real SaaS tool, not just a directory.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this is the student-facing side of the SAME engine — not a separate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reschedule workflow specifically — it's a detail most competitors don't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financial layer — mention it's a real transaction ledger, not just 'in-app payments'.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admin tools matter but aren't the emotional hook of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pitch in the real, local market — Gaza and West Bank specifically, not a vague MENA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hierarchy out loud: teacher first, everyone else is built around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commission flow once, then mention future SaaS revenue briefly as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 — this table is your strongest evidence. Let the gaps speak for themselves, don't over-narrate every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three pillars firmly, then deliver the closing line as a statement, not a hope.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technical but brisk — judges who want more detail will ask in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credibility slide — deliver it with confidence, as achievements, not as a disclaimer.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beat — shows you know exactly what's next, not just what's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only if judges ask for deeper technical detail — do not present this proactively within the 5-7 minute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quote, pause for a beat, then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2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5.png"/><Relationship Id="rId6" Type="http://schemas.openxmlformats.org/officeDocument/2006/relationships/image" Target="../media/image-17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114800" cy="4114800"/>
          </a:xfrm>
          <a:prstGeom prst="ellipse">
            <a:avLst/>
          </a:prstGeom>
          <a:solidFill>
            <a:srgbClr val="1328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3317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B5FE0"/>
          </a:solidFill>
          <a:ln/>
        </p:spPr>
      </p:sp>
      <p:pic>
        <p:nvPicPr>
          <p:cNvPr id="5" name="Image 0" descr="/home/claude/academia_pptx/icons/briefc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54203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246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1605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Business Management Platform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09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private tutors get students, manage their teaching business, and control their income — all in one place.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tutors run their business the hard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phon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19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16736" y="157276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professional online presence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rely purely on word-of-mouth and social media to find new students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comment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791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16736" y="253288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managed by phone and chat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schedules, and students are tracked manually across scattered conversations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52044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calenda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639312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16736" y="349300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in-person + online system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organize both session formats together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4805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moneybil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599432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16736" y="445312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tracked informally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and commissions have no clear, structured financial record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5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quality is high — business management is chaos.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parents aren't served either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search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019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16736" y="1755648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compare tutors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rely on personal recommendations, with no structured way to compare by subject, price, rating, or teaching mode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990088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exchang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108960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16736" y="2962656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booking &amp; payment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Arranging and paying for a session is an ad-hoc, manual process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4197096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31596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16736" y="4169664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have almost no visibility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to no insight into a child's sessions or academic activity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5404104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comments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522976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16736" y="5376672"/>
            <a:ext cx="10021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communication only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depend entirely on direct, unstructured contact with the tutor for updates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system. Built for the tutor. Open to the student.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6" name="Image 0" descr="/home/claude/academia_pptx/icons/chalkbo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848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Teachers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page, full control over in-person &amp; online sessions, and complete income/wallet management.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1" descr="/home/claude/academia_pptx/icons/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0848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"Find a Teacher" marketplace to search, compare, and book with confidence.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1965960"/>
            <a:ext cx="566928" cy="566928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6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08483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Parents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window into their linked child's academic activity.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1E39"/>
          </a:solidFill>
          <a:ln/>
        </p:spPr>
      </p:sp>
      <p:pic>
        <p:nvPicPr>
          <p:cNvPr id="20" name="Image 3" descr="/home/claude/academia_pptx/icons/quo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2452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4041648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is not just a place to find a tutor — it's a complete business-management tool for the private tutor, from getting students to managing sessions and income.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students use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095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7091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</p:txBody>
      </p:sp>
      <p:pic>
        <p:nvPicPr>
          <p:cNvPr id="7" name="Image 0" descr="/home/claude/academia_pptx/icons/arrow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708" y="3008376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0639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40639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08635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50" dirty="0"/>
          </a:p>
        </p:txBody>
      </p:sp>
      <p:pic>
        <p:nvPicPr>
          <p:cNvPr id="11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148" y="3008376"/>
            <a:ext cx="402336" cy="402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2183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02183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70179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150" dirty="0"/>
          </a:p>
        </p:txBody>
      </p:sp>
      <p:pic>
        <p:nvPicPr>
          <p:cNvPr id="15" name="Image 2" descr="/home/claude/academia_pptx/icons/arrow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588" y="3008376"/>
            <a:ext cx="402336" cy="40233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3727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63727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531723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150" dirty="0"/>
          </a:p>
        </p:txBody>
      </p:sp>
      <p:pic>
        <p:nvPicPr>
          <p:cNvPr id="19" name="Image 3" descr="/home/claude/academia_pptx/icons/arrow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028" y="3008376"/>
            <a:ext cx="402336" cy="40233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25271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25271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693267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150" dirty="0"/>
          </a:p>
        </p:txBody>
      </p:sp>
      <p:pic>
        <p:nvPicPr>
          <p:cNvPr id="23" name="Image 4" descr="/home/claude/academia_pptx/icons/arrow_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468" y="3008376"/>
            <a:ext cx="402336" cy="40233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868156" y="2651760"/>
            <a:ext cx="914400" cy="91440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86815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19"/>
          <p:cNvSpPr txBox="1"/>
          <p:nvPr/>
        </p:nvSpPr>
        <p:spPr>
          <a:xfrm>
            <a:off x="854811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</a:t>
            </a:r>
            <a:endParaRPr lang="en-US" sz="1150" dirty="0"/>
          </a:p>
        </p:txBody>
      </p:sp>
      <p:pic>
        <p:nvPicPr>
          <p:cNvPr id="27" name="Image 5" descr="/home/claude/academia_pptx/icons/arrow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908" y="3008376"/>
            <a:ext cx="402336" cy="40233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10483596" y="265176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10483596" y="26334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2"/>
          <p:cNvSpPr txBox="1"/>
          <p:nvPr/>
        </p:nvSpPr>
        <p:spPr>
          <a:xfrm>
            <a:off x="10163556" y="3639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1737360" y="4572000"/>
            <a:ext cx="8686800" cy="777240"/>
          </a:xfrm>
          <a:prstGeom prst="roundRect">
            <a:avLst>
              <a:gd name="adj" fmla="val 11765"/>
            </a:avLst>
          </a:prstGeom>
          <a:solidFill>
            <a:srgbClr val="F4F6F9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2011680" y="45720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path from discovery to a rated, completed session — not a random DM to a stranger.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heart of Academia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idc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01952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7830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profile &amp; public page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17830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tag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9019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76872" y="17830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Subjects, services &amp; pricing display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83464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users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5351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61872" y="283464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group management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63640" y="283464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laptop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95351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76872" y="283464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AND online sessions — one system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88620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4" descr="/home/claude/academia_pptx/icons/calendar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00507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61872" y="388620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availability management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63640" y="388620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5" descr="/home/claude/academia_pptx/icons/checkcircle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400507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76872" y="388620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management (accept / reject)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49377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3" name="Image 6" descr="/home/claude/academia_pptx/icons/reload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056632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61872" y="49377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request handling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6263640" y="49377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6" name="Image 7" descr="/home/claude/academia_pptx/icons/history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5056632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976872" y="49377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session tracking</a:t>
            </a:r>
            <a:endParaRPr lang="en-US" sz="1400" dirty="0"/>
          </a:p>
        </p:txBody>
      </p:sp>
      <p:sp>
        <p:nvSpPr>
          <p:cNvPr id="29" name="Text 18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30" name="Text 19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professional digital presence, not just word-of-mouth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search and filter by: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81528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81528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14416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14416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/ Region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47304" y="214884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47304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In-person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81528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81528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Days &amp; Times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14416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14416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47304" y="28529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47304" y="2852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557016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5570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B1E39"/>
          </a:solidFill>
          <a:ln/>
        </p:spPr>
      </p:sp>
      <p:pic>
        <p:nvPicPr>
          <p:cNvPr id="24" name="Image 0" descr="/home/claude/academia_pptx/icons/sta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10896" cy="31089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71600" y="434340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tutor a professional digital presence instead of relying only on personal referrals.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cycle, not a random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967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967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767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50" dirty="0"/>
          </a:p>
        </p:txBody>
      </p:sp>
      <p:pic>
        <p:nvPicPr>
          <p:cNvPr id="7" name="Image 0" descr="/home/claude/academia_pptx/icons/arrow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708" y="2208276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113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113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9913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/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50" dirty="0"/>
          </a:p>
        </p:txBody>
      </p:sp>
      <p:pic>
        <p:nvPicPr>
          <p:cNvPr id="11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2208276"/>
            <a:ext cx="402336" cy="402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25996" y="1783080"/>
            <a:ext cx="1051560" cy="10515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8259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5059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50" dirty="0"/>
          </a:p>
        </p:txBody>
      </p:sp>
      <p:pic>
        <p:nvPicPr>
          <p:cNvPr id="15" name="Image 2" descr="/home/claude/academia_pptx/icons/arrow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908" y="2208276"/>
            <a:ext cx="402336" cy="40233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340596" y="1783080"/>
            <a:ext cx="1051560" cy="10515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340596" y="1764792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9020556" y="29077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3" descr="/home/claude/academia_pptx/icons/checkcirc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702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81328" y="4160520"/>
            <a:ext cx="985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 with a stated reason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822960" y="4727448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3" name="Image 4" descr="/home/claude/academia_pptx/icons/reload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83717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81328" y="4727448"/>
            <a:ext cx="985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reschedule-request workflow — student proposes, teacher approves or declines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822960" y="5294376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6" name="Image 5" descr="/home/claude/academia_pptx/icons/history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404104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81328" y="5294376"/>
            <a:ext cx="985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booking history preserved — nothing is ever deleted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822960" y="5861304"/>
            <a:ext cx="457200" cy="457200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9" name="Image 6" descr="/home/claude/academia_pptx/icons/star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971032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481328" y="5861304"/>
            <a:ext cx="9857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unlocks only after the session is completed</a:t>
            </a:r>
            <a:endParaRPr lang="en-US" sz="1350" dirty="0"/>
          </a:p>
        </p:txBody>
      </p:sp>
      <p:sp>
        <p:nvSpPr>
          <p:cNvPr id="32" name="Text 22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financial layer for the tutor's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wall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8562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7373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wallet with balance top-up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173736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receip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562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76872" y="173736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bank-transfer top-up with receipt verification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78892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exchang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077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61872" y="278892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commission calculation on confirmation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63640" y="278892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4" name="Image 3" descr="/home/claude/academia_pptx/icons/moneybil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90779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76872" y="278892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earnings credited automatically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8404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7" name="Image 4" descr="/home/claude/academia_pptx/icons/history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95935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61872" y="38404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transaction history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63640" y="384048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0" name="Image 5" descr="/home/claude/academia_pptx/icons/filedownload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95935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76872" y="384048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withdrawal requests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4892040"/>
            <a:ext cx="512064" cy="512064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23" name="Image 6" descr="/home/claude/academia_pptx/icons/chartline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010912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61872" y="4892040"/>
            <a:ext cx="4636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revenue ledger</a:t>
            </a:r>
            <a:endParaRPr lang="en-US" sz="1400" dirty="0"/>
          </a:p>
        </p:txBody>
      </p:sp>
      <p:sp>
        <p:nvSpPr>
          <p:cNvPr id="26" name="Text 1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7" name="Text 17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 &amp; academic tracking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621792" cy="62179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shiel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075688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configurable permission system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 role access to any page without touching code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703320"/>
            <a:ext cx="621792" cy="62179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chartlin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84048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3675888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parent academic tracking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exam results, and progress — designed into the platform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22960" y="5303520"/>
            <a:ext cx="621792" cy="621792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11" name="Image 2" descr="/home/claude/academia_pptx/icons/lo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44068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45920" y="5276088"/>
            <a:ext cx="9692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access is strictly scoped to their linked children only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Palestine, why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" cy="585216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5" name="Image 0" descr="/home/claude/academia_pptx/icons/mappoin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35024" y="1664208"/>
            <a:ext cx="100035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geographic focus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Gaza Strip &amp; West Bank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585216" cy="585216"/>
          </a:xfrm>
          <a:prstGeom prst="ellipse">
            <a:avLst/>
          </a:prstGeom>
          <a:solidFill>
            <a:srgbClr val="2B5FE0">
              <a:alpha val="12000"/>
            </a:srgbClr>
          </a:solidFill>
          <a:ln/>
        </p:spPr>
      </p:sp>
      <p:pic>
        <p:nvPicPr>
          <p:cNvPr id="8" name="Image 1" descr="/home/claude/academia_pptx/icons/boo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3200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35024" y="2578608"/>
            <a:ext cx="100035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tutoring coverage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In-person, online, individual, and group private tutoring for school-stage students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79476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4023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this market runs on: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6868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6868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06324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06324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25780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25780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45236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5236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Bank Transfers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646920" y="4434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646920" y="4434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Schedules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68680" y="49377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unifies all of that into one platform.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teacher-first,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0B1E3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pic>
        <p:nvPicPr>
          <p:cNvPr id="7" name="Image 0" descr="/home/claude/academia_pptx/icons/chalkbo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06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94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9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Students + Manage Teaching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9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 Business + Manage Money"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663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platform's core features are built to serve teachers first.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1691640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1947672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2B5F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9476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pic>
        <p:nvPicPr>
          <p:cNvPr id="14" name="Image 1" descr="/home/claude/academia_pptx/icons/search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4144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720840" y="2404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21792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Discovers, compares, and books tutors.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0" y="3657600"/>
            <a:ext cx="5669280" cy="1691640"/>
          </a:xfrm>
          <a:prstGeom prst="roundRect">
            <a:avLst>
              <a:gd name="adj" fmla="val 6486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3913632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17920" y="3913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1000" dirty="0"/>
          </a:p>
        </p:txBody>
      </p:sp>
      <p:pic>
        <p:nvPicPr>
          <p:cNvPr id="20" name="Image 2" descr="/home/claude/academia_pptx/icons/ey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40740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20840" y="4370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linked children's academic activity.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+ SaaS hybrid revenue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5276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5" name="Image 0" descr="/home/claude/academia_pptx/icons/idcard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167128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42516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pays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booking</a:t>
            </a:r>
            <a:endParaRPr lang="en-US" sz="1300" dirty="0"/>
          </a:p>
        </p:txBody>
      </p:sp>
      <p:pic>
        <p:nvPicPr>
          <p:cNvPr id="7" name="Image 1" descr="/home/claude/academia_pptx/icons/arrow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664" y="2276856"/>
            <a:ext cx="329184" cy="3291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85716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9" name="Image 2" descr="/home/claude/academia_pptx/icons/exchang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316" y="2167128"/>
            <a:ext cx="402336" cy="4023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362956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commission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deducted</a:t>
            </a:r>
            <a:endParaRPr lang="en-US" sz="1300" dirty="0"/>
          </a:p>
        </p:txBody>
      </p:sp>
      <p:pic>
        <p:nvPicPr>
          <p:cNvPr id="11" name="Image 3" descr="/home/claude/academia_pptx/icons/arrow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4" y="2276856"/>
            <a:ext cx="329184" cy="32918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106156" y="178308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pic>
        <p:nvPicPr>
          <p:cNvPr id="13" name="Image 4" descr="/home/claude/academia_pptx/icons/moneybill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756" y="2167128"/>
            <a:ext cx="402336" cy="40233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883396" y="17830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receives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earnings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1065276" y="3108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rate is configurable by admin.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REVENUE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548640" y="3977640"/>
            <a:ext cx="2790749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548640" y="3977640"/>
            <a:ext cx="2790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teacher accounts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3522269" y="3977640"/>
            <a:ext cx="2147011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3522269" y="3977640"/>
            <a:ext cx="214701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search ranking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852160" y="3977640"/>
            <a:ext cx="271028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5852160" y="3977640"/>
            <a:ext cx="27102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advanced reports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745322" y="3977640"/>
            <a:ext cx="166420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8745322" y="39776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tools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4544568"/>
            <a:ext cx="271028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548640" y="4544568"/>
            <a:ext cx="27102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group/session tools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additional digital services around the tutor's business, without changing the platform's core.</a:t>
            </a:r>
            <a:endParaRPr lang="en-US" sz="125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competitors solve only one piece of the puzzle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17320"/>
                <a:gridCol w="2743200"/>
                <a:gridCol w="2606040"/>
                <a:gridCol w="29535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&amp; Focus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vs Academia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Egypt, UAE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students with tutors (online/in-person), tracks parents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brand, guardian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on students/parents — not on giving the tutor business-management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Hissaa (حصة)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Arabia &amp; Gulf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for booking private sessions, simplifies individual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interface, wide reach in the Gulf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to Gulf market workflows and payment methods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MyPrivateTutor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East &amp; MENA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of private tutors and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 database, high traffic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a listing/directory — no scheduling or wallet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Darisni (درسني)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Kuwait &amp; Gulf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private-lesson booking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focused on quick video-session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Online-only — doesn't serve in-person or group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5F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TutorBird / Teachworks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(US/Europe)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business-management software for tutors and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mature management system (scheduling, invoicing, reports)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marketplace at all — no way for the tutor to find new students; not localized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ACADEMIA'S EDGE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 existing player looks like Academia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621792" cy="621792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6" name="Image 0" descr="/home/claude/academia_pptx/icons/handshak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122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83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+ SaaS in One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are either a booking marketplace ONLY, or a management SaaS ONLY. Academia is the only one combining both.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965960"/>
            <a:ext cx="621792" cy="621792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12" name="Image 1" descr="/home/claude/academia_pptx/icons/mappoin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11226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Local Reality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in-person tutoring, not just online video, with payment flows matching how the local market actually pays.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1965960"/>
            <a:ext cx="621792" cy="621792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18" name="Image 2" descr="/home/claude/academia_pptx/icons/rocke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11226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72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Teacher-First Engine</a:t>
            </a:r>
            <a:endParaRPr lang="en-US" sz="165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tutor's word-of-mouth chaos into an organized business through one professional, shareable profile page.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B1E39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local Palestinian market, </a:t>
            </a:r>
            <a:pPr indent="0" marL="0">
              <a:buNone/>
            </a:pPr>
            <a:r>
              <a:rPr lang="en-US" sz="1550" b="1" i="1" dirty="0">
                <a:solidFill>
                  <a:srgbClr val="5F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</a:t>
            </a:r>
            <a:pPr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currently has no direct local competitor combining all of this.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Start + Router (full-stack)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for data fetching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+ Radix UI (shadcn/ui)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— true Arabic RTL, 40+ components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(unit) + Playwright (E2E)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4F6F9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8928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402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+ ASP.NET Core Web API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10 + SQL Server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layered solution (Core / Data / Infrastructure / API)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 — secure cross-origin cookie auth (not token-based)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API via Swagger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2396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11" name="Image 0" descr="/home/claude/academia_pptx/icons/lapto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469544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04188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TanStack)</a:t>
            </a:r>
            <a:endParaRPr lang="en-US" sz="1150" dirty="0"/>
          </a:p>
        </p:txBody>
      </p:sp>
      <p:pic>
        <p:nvPicPr>
          <p:cNvPr id="13" name="Image 1" descr="/home/claude/academia_pptx/icons/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" y="4741164"/>
            <a:ext cx="292608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 flipH="1">
            <a:off x="4009644" y="4869180"/>
            <a:ext cx="374904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77156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16" name="Image 2" descr="/home/claude/academia_pptx/icons/server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46954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98948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(ASP.NET Core)</a:t>
            </a:r>
            <a:endParaRPr lang="en-US" sz="1150" dirty="0"/>
          </a:p>
        </p:txBody>
      </p:sp>
      <p:pic>
        <p:nvPicPr>
          <p:cNvPr id="18" name="Image 3" descr="/home/claude/academia_pptx/icons/arr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4741164"/>
            <a:ext cx="292608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 flipH="1">
            <a:off x="7804404" y="4869180"/>
            <a:ext cx="374904" cy="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471916" y="44348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B1E39"/>
          </a:solidFill>
          <a:ln/>
        </p:spPr>
      </p:sp>
      <p:pic>
        <p:nvPicPr>
          <p:cNvPr id="21" name="Image 4" descr="/home/claude/academia_pptx/icons/database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084" y="4695444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093708" y="4434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150" dirty="0"/>
          </a:p>
        </p:txBody>
      </p:sp>
      <p:sp>
        <p:nvSpPr>
          <p:cNvPr id="24" name="Text 1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we've actually built and shipped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Endpoints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Live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0B1E3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1719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3408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Engine Shipped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14" name="Image 0" descr="/home/claude/academia_pptx/icons/checkcirc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6324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52144" y="2971800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authentication system live for all 4 roles (Teacher, Student, Parent, Admin)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538728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17" name="Image 1" descr="/home/claude/academia_pptx/icons/checkcircl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3016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52144" y="3538728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admin console shipped: users, dynamic content, fully configurable role permissions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0" name="Image 2" descr="/home/claude/academia_pptx/icons/checkcircl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97096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52144" y="4105656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wallet &amp; payments engine shipped end-to-end: balance, transactions, top-up with receipt verification, withdrawal approval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4672584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3" name="Image 3" descr="/home/claude/academia_pptx/icons/checkcircl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6402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52144" y="4672584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teacher-discovery marketplace live: search, filtering, public profiles — no login required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5239512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6" name="Image 4" descr="/home/claude/academia_pptx/icons/bol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3309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52144" y="5239512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lesson-scheduling engines fully built on the backend — current focus is the account-linking layer to real teacher/student screens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48640" y="5806440"/>
            <a:ext cx="402336" cy="402336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29" name="Image 5" descr="/home/claude/academia_pptx/icons/checkcircle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897880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152144" y="5806440"/>
            <a:ext cx="10277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in place (unit + end-to-end) as part of the engineering process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1920240"/>
            <a:ext cx="0" cy="3749040"/>
          </a:xfrm>
          <a:prstGeom prst="line">
            <a:avLst/>
          </a:prstGeom>
          <a:noFill/>
          <a:ln w="25400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8249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linking teacher/student registration to their database records (in progress)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323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booking and lesson-scheduling systems to real screens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236976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1821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parent-child linking so the parent portal returns real data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986784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9319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payment gateway to replace manual bank transfer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736592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6817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teacher plans (professional accounts, analytics, marketing tools)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5486400"/>
            <a:ext cx="365760" cy="365760"/>
          </a:xfrm>
          <a:prstGeom prst="ellipse">
            <a:avLst/>
          </a:prstGeom>
          <a:solidFill>
            <a:srgbClr val="2B5F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43153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later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1E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only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 integrity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debit/credit pair (student ↔ teacher) runs as a single atomic transaction — no partial application on failure.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89504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8620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data model implemented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Booking, BookingRescheduleRequest, GroupScheduleDay, ParentStudentLink, WalletTransaction, WalletTopUpRequest, WithdrawalRequest, PlatformCommissionSetting, PlatformRevenueLedger, Page/UserPermission.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85616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758184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Planned access-control model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API-level authorization + database relation level — a parent will only ever query children explicitly linked to their account.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81728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65429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 design rule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will never directly modify a teacher's schedule — any teacher-side change auto-propagates to the student's confirmed schedule with a notification.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577840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5504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Cross-origin cookie auth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Restricted to a whitelist of trusted frontend origins.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0642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E3A66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389120"/>
            <a:ext cx="4572000" cy="457200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4" name="Image 0" descr="/home/claude/academia_pptx/icons/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46888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 — from finding the student, to managing the session, to managing the income.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3840480"/>
            <a:ext cx="20116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EC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— Teacher Business Management Platform</dc:title>
  <dc:subject>PptxGenJS Presentation</dc:subject>
  <dc:creator>Academia</dc:creator>
  <cp:lastModifiedBy>Academia</cp:lastModifiedBy>
  <cp:revision>1</cp:revision>
  <dcterms:created xsi:type="dcterms:W3CDTF">2026-09-27T11:57:08Z</dcterms:created>
  <dcterms:modified xsi:type="dcterms:W3CDTF">2026-09-27T11:57:08Z</dcterms:modified>
</cp:coreProperties>
</file>